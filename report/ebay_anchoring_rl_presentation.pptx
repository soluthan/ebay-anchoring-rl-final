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26e19483854b2d" /><Relationship Type="http://schemas.openxmlformats.org/officeDocument/2006/relationships/extended-properties" Target="/docProps/app.xml" Id="R28dfda431a074f08" /><Relationship Type="http://schemas.openxmlformats.org/officeDocument/2006/relationships/officeDocument" Target="/ppt/presentation.xml" Id="R44c67c65ee304c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cd2d69562a4e10"/>
  </p:sldMasterIdLst>
  <p:notesMasterIdLst>
    <p:notesMasterId xmlns:r="http://schemas.openxmlformats.org/officeDocument/2006/relationships" r:id="R965cc9f0266148aa"/>
  </p:notesMasterIdLst>
  <p:sldIdLst>
    <p:sldId xmlns:r="http://schemas.openxmlformats.org/officeDocument/2006/relationships" id="256" r:id="R6465e1d50e874c7a"/>
    <p:sldId xmlns:r="http://schemas.openxmlformats.org/officeDocument/2006/relationships" id="257" r:id="R00f1fd69f23c49ea"/>
    <p:sldId xmlns:r="http://schemas.openxmlformats.org/officeDocument/2006/relationships" id="258" r:id="R09079d0f1a754969"/>
    <p:sldId xmlns:r="http://schemas.openxmlformats.org/officeDocument/2006/relationships" id="259" r:id="R9f5f854875eb4ea7"/>
    <p:sldId xmlns:r="http://schemas.openxmlformats.org/officeDocument/2006/relationships" id="260" r:id="R919a38ba02244ee6"/>
    <p:sldId xmlns:r="http://schemas.openxmlformats.org/officeDocument/2006/relationships" id="261" r:id="Raa286811c9254357"/>
    <p:sldId xmlns:r="http://schemas.openxmlformats.org/officeDocument/2006/relationships" id="262" r:id="Rde3b2e9df5e14158"/>
    <p:sldId xmlns:r="http://schemas.openxmlformats.org/officeDocument/2006/relationships" id="263" r:id="Ra97f4e6368ef495d"/>
    <p:sldId xmlns:r="http://schemas.openxmlformats.org/officeDocument/2006/relationships" id="264" r:id="R68a49ff8c93f48fa"/>
    <p:sldId xmlns:r="http://schemas.openxmlformats.org/officeDocument/2006/relationships" id="265" r:id="Rb582f0b3b00445fd"/>
    <p:sldId xmlns:r="http://schemas.openxmlformats.org/officeDocument/2006/relationships" id="266" r:id="Rff90bfd289d1479e"/>
    <p:sldId xmlns:r="http://schemas.openxmlformats.org/officeDocument/2006/relationships" id="267" r:id="Rec8132d5927a4923"/>
    <p:sldId xmlns:r="http://schemas.openxmlformats.org/officeDocument/2006/relationships" id="268" r:id="R6f293f64b8f4443f"/>
    <p:sldId xmlns:r="http://schemas.openxmlformats.org/officeDocument/2006/relationships" id="269" r:id="Rb46a4f1c97d34894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3bb477322f4526" /><Relationship Type="http://schemas.openxmlformats.org/officeDocument/2006/relationships/slideMaster" Target="/ppt/slideMasters/slideMaster1.xml" Id="Reccd2d69562a4e10" /><Relationship Type="http://schemas.openxmlformats.org/officeDocument/2006/relationships/notesMaster" Target="/ppt/notesMasters/notesMaster1.xml" Id="R965cc9f0266148aa" /><Relationship Type="http://schemas.openxmlformats.org/officeDocument/2006/relationships/presProps" Target="/ppt/presProps.xml" Id="R500eadea912d4ef0" /><Relationship Type="http://schemas.openxmlformats.org/officeDocument/2006/relationships/tableStyles" Target="/ppt/tableStyles.xml" Id="R674e785216384ef0" /><Relationship Type="http://schemas.openxmlformats.org/officeDocument/2006/relationships/slide" Target="/ppt/slides/slide1.xml" Id="R6465e1d50e874c7a" /><Relationship Type="http://schemas.openxmlformats.org/officeDocument/2006/relationships/slide" Target="/ppt/slides/slide2.xml" Id="R00f1fd69f23c49ea" /><Relationship Type="http://schemas.openxmlformats.org/officeDocument/2006/relationships/slide" Target="/ppt/slides/slide3.xml" Id="R09079d0f1a754969" /><Relationship Type="http://schemas.openxmlformats.org/officeDocument/2006/relationships/slide" Target="/ppt/slides/slide4.xml" Id="R9f5f854875eb4ea7" /><Relationship Type="http://schemas.openxmlformats.org/officeDocument/2006/relationships/slide" Target="/ppt/slides/slide5.xml" Id="R919a38ba02244ee6" /><Relationship Type="http://schemas.openxmlformats.org/officeDocument/2006/relationships/slide" Target="/ppt/slides/slide6.xml" Id="Raa286811c9254357" /><Relationship Type="http://schemas.openxmlformats.org/officeDocument/2006/relationships/slide" Target="/ppt/slides/slide7.xml" Id="Rde3b2e9df5e14158" /><Relationship Type="http://schemas.openxmlformats.org/officeDocument/2006/relationships/slide" Target="/ppt/slides/slide8.xml" Id="Ra97f4e6368ef495d" /><Relationship Type="http://schemas.openxmlformats.org/officeDocument/2006/relationships/slide" Target="/ppt/slides/slide9.xml" Id="R68a49ff8c93f48fa" /><Relationship Type="http://schemas.openxmlformats.org/officeDocument/2006/relationships/slide" Target="/ppt/slides/slide10.xml" Id="Rb582f0b3b00445fd" /><Relationship Type="http://schemas.openxmlformats.org/officeDocument/2006/relationships/slide" Target="/ppt/slides/slide11.xml" Id="Rff90bfd289d1479e" /><Relationship Type="http://schemas.openxmlformats.org/officeDocument/2006/relationships/slide" Target="/ppt/slides/slide12.xml" Id="Rec8132d5927a4923" /><Relationship Type="http://schemas.openxmlformats.org/officeDocument/2006/relationships/slide" Target="/ppt/slides/slide13.xml" Id="R6f293f64b8f4443f" /><Relationship Type="http://schemas.openxmlformats.org/officeDocument/2006/relationships/slide" Target="/ppt/slides/slide14.xml" Id="Rb46a4f1c97d348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7ed3a1991347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e5d490986543cc" /><Relationship Type="http://schemas.openxmlformats.org/officeDocument/2006/relationships/notesMaster" Target="/ppt/notesMasters/notesMaster1.xml" Id="Re970630d4cc740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69870ef2314019" /><Relationship Type="http://schemas.openxmlformats.org/officeDocument/2006/relationships/notesMaster" Target="/ppt/notesMasters/notesMaster1.xml" Id="Raa1760d50f1949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96e318011c46ed" /><Relationship Type="http://schemas.openxmlformats.org/officeDocument/2006/relationships/notesMaster" Target="/ppt/notesMasters/notesMaster1.xml" Id="R11326eee183e4f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405126a7d94360" /><Relationship Type="http://schemas.openxmlformats.org/officeDocument/2006/relationships/notesMaster" Target="/ppt/notesMasters/notesMaster1.xml" Id="Rd9691420647c40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21d880cf7247f2" /><Relationship Type="http://schemas.openxmlformats.org/officeDocument/2006/relationships/notesMaster" Target="/ppt/notesMasters/notesMaster1.xml" Id="Rd6d5ca1b8e4e40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6b815f3b8b46c8" /><Relationship Type="http://schemas.openxmlformats.org/officeDocument/2006/relationships/notesMaster" Target="/ppt/notesMasters/notesMaster1.xml" Id="R33aa68e81cd045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637847283e4678" /><Relationship Type="http://schemas.openxmlformats.org/officeDocument/2006/relationships/notesMaster" Target="/ppt/notesMasters/notesMaster1.xml" Id="R476fd425270244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9ba5de615a4d61" /><Relationship Type="http://schemas.openxmlformats.org/officeDocument/2006/relationships/notesMaster" Target="/ppt/notesMasters/notesMaster1.xml" Id="R36c3d0d9f58e48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c37c76b4e24687" /><Relationship Type="http://schemas.openxmlformats.org/officeDocument/2006/relationships/notesMaster" Target="/ppt/notesMasters/notesMaster1.xml" Id="R391aab95984c42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836753eba74f1d" /><Relationship Type="http://schemas.openxmlformats.org/officeDocument/2006/relationships/notesMaster" Target="/ppt/notesMasters/notesMaster1.xml" Id="R3f81ea5cfd0e453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b08c0717fd41e0" /><Relationship Type="http://schemas.openxmlformats.org/officeDocument/2006/relationships/notesMaster" Target="/ppt/notesMasters/notesMaster1.xml" Id="R0b71bd1e24e64a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971eb2dda04d6f" /><Relationship Type="http://schemas.openxmlformats.org/officeDocument/2006/relationships/notesMaster" Target="/ppt/notesMasters/notesMaster1.xml" Id="Rd951bebed33e430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d37b421d12545bc" /><Relationship Type="http://schemas.openxmlformats.org/officeDocument/2006/relationships/notesMaster" Target="/ppt/notesMasters/notesMaster1.xml" Id="R2b91c58a7fc346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2b71b18118a46a4" /><Relationship Type="http://schemas.openxmlformats.org/officeDocument/2006/relationships/notesMaster" Target="/ppt/notesMasters/notesMaster1.xml" Id="Rfa51d9584f0142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seconds: name, project in one line - offline RL for buyer opening offers on eBay Best Offer, with the emphasis on when recommendations can be trusted.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Roadmap: Why the problem is interesting, How it is modeled, What the results support.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hook. Walk the trade-off: prize rises as the offer drops, acceptance falls. The product has an interior peak. One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Prior work in three lines: behavioral anchoring, the eBay bargaining field paper, offline RL. Then the core tension: observational logs, so estimates can leave the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to methods.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One-step MDP, close to a contextual bandit. All models share these four state features - differences between methods are method, not information. Mention the removed price regressor if asked.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Ported findings slide: Phase 1 is a response model, not a value function. AUC says prediction is usable; the ESS number previews why greedy maximization of this surface fails.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 idea: same expected-savings objective everywhere; methods differ only in how much they trust the estimated acceptance surface off-support.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headline diagnostic. CQL and the fixed anchor retain around 36 percent effective support; greedy collapses to under one percent. High estimated reward, no evaluability.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to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column two before column three. Observed, model estimate, simulator-only. The honest finding: no policy provably beats historical buyers; the contribution is knowing which numbers deserve trust.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Claims triage. If asked why savings estimates look small: they are per-thread expected savings including failed offers.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symmetry: behavioral insight for buyers, methodological insight for RL. Invite questions on OPE or the simulator.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255e2263d44d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cecbf375e4446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049185ef80477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b611768b1d479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e908f30d78450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71a4c70db248b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d40c9defcf477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efea81ad5e4dd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8b07ccfad428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9165d9718447b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f7b20683524bb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0D6B22-ED51-42DF-A46F-F2EB826E954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C632F1C-876E-4C68-9D80-C09216B1F9F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648A21-DE26-43D6-B070-E5817BBCA0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49568F-335A-4C57-BE36-453891FE11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8076DF-15D3-416E-B8E3-2120E880EB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5D0A5A-24D2-48D4-8BB7-907FDE1832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7810438-13DE-4A49-934F-06DB2F7A96D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42A12D-259E-4A5D-A52A-4CAA98FAF0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C3D6D8-9CE7-492F-B79A-39C9520367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18D17C-B18C-4C76-8F20-9A2356CC15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70ED8D-3B55-4916-9E18-944FD449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EB8AA45-7EE0-4DA2-87D8-D64A8DCE1A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FF40ED-F6E7-4A90-939B-4FB8CA9212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E0BB8F-F579-4E08-A103-6DF9EA466B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39F59C9-E1D1-4108-B17F-A6D97D6260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5429FC1-BFBA-458D-A240-B4C52B2D93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388C84A-B3D0-4404-B136-377F144F5C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93C606-B667-4539-B009-208F59040D5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CBC88E0-A16D-451A-8D9D-CA202D4A937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B70F5D-1AB3-4B3B-BB38-1DB103CA6E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2E3DD8C-A05F-4F33-B378-367ED01A4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E0608F-677E-4FFA-9F9B-F3D01C9590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470E663-6A0D-4B45-AE86-D6E308460F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33C0C1-B763-4EC4-9310-4BE2BC1CF8F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4DC26EC-0B0B-410B-A6CC-B653D2164C0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8489E3B-F40A-47E2-9605-8A097E51DCD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6E42AFE-27EE-4494-8016-304641C478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E7C957D-AEA9-41A6-9DE6-FBD9E753DB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8D37E53-70DF-4200-80A6-13F331006E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790A45-001F-4541-9F45-70387388A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2B952A5-A72D-4C0D-8D7F-0A27759ED8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E5BBA11-9936-4928-9501-9AF7AA7ACE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9F8DD3A-17C7-4B69-AD25-9F8EBA7F9A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423907E-78D6-4C03-8BA5-BE96EABDBC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38AC27-4A96-43C0-95E3-B1BBE7AB01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B72451D-440B-4AFD-929B-574D098658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5D55E7-B8CE-42CC-B4E3-097B97B41D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98107B-D1C0-401B-A258-BEDAA646618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88AD630-CA06-4529-87A7-68C4AE2639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2A55774-F83F-4CD4-8A58-5D131C7B8D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D39F7B5-83D1-464A-B897-1458B2BC0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A983C5B-7295-4405-9D82-E140B191E3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52D824-4FE0-4592-A423-59BA5AEC64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6A3F97D-EE69-4718-8EDF-1844AD8D8C3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55F019-205B-4074-AA88-7D993996A2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66A197-7886-4F78-BC0B-A9A988F800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DB5C6F-6BE7-44BB-BA79-24A89EC0AC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37D48E-2A5C-48CD-8DE8-EFF219A7E7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65B624-95AF-44CB-A335-E98451298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4832AE-1A5C-40E0-AC7D-7B667664FD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F6DBB7F-F86D-45C2-A31D-D0803AE9C2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AC650B-1E6E-4604-B582-AB3E157EFC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0DB5DD-246D-4129-9720-188BEAD209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CC8A8B-881B-4AC2-A775-92FCEE6E3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6A574-B6E6-403F-9DA6-3DC62487AF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3E3665-8E33-4AA2-9A9E-9DC156BBAF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6BE21D1-1BC7-4BC5-99ED-5F18023506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86B578-3D62-444D-B1CB-0F14B9C497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72c94db27b4ce4" /><Relationship Type="http://schemas.openxmlformats.org/officeDocument/2006/relationships/slideLayout" Target="/ppt/slideLayouts/slideLayout1.xml" Id="R90fdd8cd5cdc4f3d" /><Relationship Type="http://schemas.openxmlformats.org/officeDocument/2006/relationships/slideLayout" Target="/ppt/slideLayouts/slideLayout2.xml" Id="Rf44d275cb39349b2" /><Relationship Type="http://schemas.openxmlformats.org/officeDocument/2006/relationships/slideLayout" Target="/ppt/slideLayouts/slideLayout3.xml" Id="Rf4bfd9db91184d82" /><Relationship Type="http://schemas.openxmlformats.org/officeDocument/2006/relationships/slideLayout" Target="/ppt/slideLayouts/slideLayout4.xml" Id="R24c3c3f209764c26" /><Relationship Type="http://schemas.openxmlformats.org/officeDocument/2006/relationships/slideLayout" Target="/ppt/slideLayouts/slideLayout5.xml" Id="Rd374eccfa321482c" /><Relationship Type="http://schemas.openxmlformats.org/officeDocument/2006/relationships/slideLayout" Target="/ppt/slideLayouts/slideLayout6.xml" Id="R767cd620b42b4d76" /><Relationship Type="http://schemas.openxmlformats.org/officeDocument/2006/relationships/slideLayout" Target="/ppt/slideLayouts/slideLayout7.xml" Id="R4b87c222a39547b3" /><Relationship Type="http://schemas.openxmlformats.org/officeDocument/2006/relationships/slideLayout" Target="/ppt/slideLayouts/slideLayout8.xml" Id="Rb00fb10d8e3d45c4" /><Relationship Type="http://schemas.openxmlformats.org/officeDocument/2006/relationships/slideLayout" Target="/ppt/slideLayouts/slideLayout9.xml" Id="R0d2102cb5d07499d" /><Relationship Type="http://schemas.openxmlformats.org/officeDocument/2006/relationships/slideLayout" Target="/ppt/slideLayouts/slideLayout10.xml" Id="R58b7b80cdfee4adb" /><Relationship Type="http://schemas.openxmlformats.org/officeDocument/2006/relationships/slideLayout" Target="/ppt/slideLayouts/slideLayout11.xml" Id="Rcc2a293c09dc479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D69B7A-E49E-425C-83C7-4298267A1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C77C114-53A9-4CEC-8833-6B17416600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D37073-499A-49E3-9CA6-6DA3FB26594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F48771-825A-4576-8775-032D5F9570D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1B30113-D3AA-4394-AA3B-E2C44EBD4D9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fdd8cd5cdc4f3d"/>
    <p:sldLayoutId xmlns:r="http://schemas.openxmlformats.org/officeDocument/2006/relationships" id="2147483650" r:id="Rf44d275cb39349b2"/>
    <p:sldLayoutId xmlns:r="http://schemas.openxmlformats.org/officeDocument/2006/relationships" id="2147483651" r:id="Rf4bfd9db91184d82"/>
    <p:sldLayoutId xmlns:r="http://schemas.openxmlformats.org/officeDocument/2006/relationships" id="2147483652" r:id="R24c3c3f209764c26"/>
    <p:sldLayoutId xmlns:r="http://schemas.openxmlformats.org/officeDocument/2006/relationships" id="2147483653" r:id="Rd374eccfa321482c"/>
    <p:sldLayoutId xmlns:r="http://schemas.openxmlformats.org/officeDocument/2006/relationships" id="2147483654" r:id="R767cd620b42b4d76"/>
    <p:sldLayoutId xmlns:r="http://schemas.openxmlformats.org/officeDocument/2006/relationships" id="2147483655" r:id="R4b87c222a39547b3"/>
    <p:sldLayoutId xmlns:r="http://schemas.openxmlformats.org/officeDocument/2006/relationships" id="2147483656" r:id="Rb00fb10d8e3d45c4"/>
    <p:sldLayoutId xmlns:r="http://schemas.openxmlformats.org/officeDocument/2006/relationships" id="2147483657" r:id="R0d2102cb5d07499d"/>
    <p:sldLayoutId xmlns:r="http://schemas.openxmlformats.org/officeDocument/2006/relationships" id="2147483658" r:id="R58b7b80cdfee4adb"/>
    <p:sldLayoutId xmlns:r="http://schemas.openxmlformats.org/officeDocument/2006/relationships" id="2147483659" r:id="Rcc2a293c09dc4792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0454cd9e72432b" /><Relationship Type="http://schemas.openxmlformats.org/officeDocument/2006/relationships/image" Target="/ppt/media/image.png" Id="Rf9b3417492414603" /><Relationship Type="http://schemas.openxmlformats.org/officeDocument/2006/relationships/notesSlide" Target="/ppt/notesSlides/notesSlide1.xml" Id="R8965e1f5d54940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64681993614376" /><Relationship Type="http://schemas.openxmlformats.org/officeDocument/2006/relationships/image" Target="/ppt/media/image.png" Id="R195e1fe9cd414522" /><Relationship Type="http://schemas.openxmlformats.org/officeDocument/2006/relationships/notesSlide" Target="/ppt/notesSlides/notesSlide2.xml" Id="Rb08e6f3120e147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b2b69bae2344c5" /><Relationship Type="http://schemas.openxmlformats.org/officeDocument/2006/relationships/image" Target="/ppt/media/image.png" Id="R8f8dae1148294c80" /><Relationship Type="http://schemas.openxmlformats.org/officeDocument/2006/relationships/chart" Target="/ppt/slides/charts/chart1.xml" Id="R6ee85f79c7134076" /><Relationship Type="http://schemas.openxmlformats.org/officeDocument/2006/relationships/notesSlide" Target="/ppt/notesSlides/notesSlide3.xml" Id="R90b2b76c44754a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1b9924b6734d96" /><Relationship Type="http://schemas.openxmlformats.org/officeDocument/2006/relationships/image" Target="/ppt/media/image.png" Id="R0a32c4e4c1ee42a0" /><Relationship Type="http://schemas.openxmlformats.org/officeDocument/2006/relationships/notesSlide" Target="/ppt/notesSlides/notesSlide4.xml" Id="Rdb0104f9727249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13214e37c24797" /><Relationship Type="http://schemas.openxmlformats.org/officeDocument/2006/relationships/image" Target="/ppt/media/image.png" Id="Rf9e3254f719643b4" /><Relationship Type="http://schemas.openxmlformats.org/officeDocument/2006/relationships/notesSlide" Target="/ppt/notesSlides/notesSlide5.xml" Id="R8d3beeb7867343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108adc7ca94191" /><Relationship Type="http://schemas.openxmlformats.org/officeDocument/2006/relationships/image" Target="/ppt/media/image.png" Id="R3564c0909b3c45b0" /><Relationship Type="http://schemas.openxmlformats.org/officeDocument/2006/relationships/notesSlide" Target="/ppt/notesSlides/notesSlide6.xml" Id="R8c3a0cdfa1c249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8699b2f7414c26" /><Relationship Type="http://schemas.openxmlformats.org/officeDocument/2006/relationships/image" Target="/ppt/media/image.png" Id="R19122a4a80ce4385" /><Relationship Type="http://schemas.openxmlformats.org/officeDocument/2006/relationships/notesSlide" Target="/ppt/notesSlides/notesSlide7.xml" Id="Refc0770791f647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1292aae3f84b33" /><Relationship Type="http://schemas.openxmlformats.org/officeDocument/2006/relationships/image" Target="/ppt/media/image.png" Id="R98ba8bd3ec654168" /><Relationship Type="http://schemas.openxmlformats.org/officeDocument/2006/relationships/notesSlide" Target="/ppt/notesSlides/notesSlide8.xml" Id="Rcf4de78f7e8b454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eb5ae459964e66" /><Relationship Type="http://schemas.openxmlformats.org/officeDocument/2006/relationships/image" Target="/ppt/media/image.png" Id="Rb37e16b5eaed4b4a" /><Relationship Type="http://schemas.openxmlformats.org/officeDocument/2006/relationships/chart" Target="/ppt/slides/charts/chart2.xml" Id="Rcc76a196c35d47cf" /><Relationship Type="http://schemas.openxmlformats.org/officeDocument/2006/relationships/notesSlide" Target="/ppt/notesSlides/notesSlide9.xml" Id="R415322c9f1e34c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fd66dea34f4ace" /><Relationship Type="http://schemas.openxmlformats.org/officeDocument/2006/relationships/image" Target="/ppt/media/image.png" Id="R676b2d4cf30c402a" /><Relationship Type="http://schemas.openxmlformats.org/officeDocument/2006/relationships/notesSlide" Target="/ppt/notesSlides/notesSlide10.xml" Id="R3cd180fe5c0f4c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78f49f45ec44d4" /><Relationship Type="http://schemas.openxmlformats.org/officeDocument/2006/relationships/image" Target="/ppt/media/image.png" Id="R54c9799cf1ec4b9f" /><Relationship Type="http://schemas.openxmlformats.org/officeDocument/2006/relationships/notesSlide" Target="/ppt/notesSlides/notesSlide11.xml" Id="R9f2d5d9935174b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92f2610359432b" /><Relationship Type="http://schemas.openxmlformats.org/officeDocument/2006/relationships/image" Target="/ppt/media/image.png" Id="Rb117954d25944c30" /><Relationship Type="http://schemas.openxmlformats.org/officeDocument/2006/relationships/notesSlide" Target="/ppt/notesSlides/notesSlide12.xml" Id="R4c0e2151a32941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aa9c1b92444d82" /><Relationship Type="http://schemas.openxmlformats.org/officeDocument/2006/relationships/image" Target="/ppt/media/image.png" Id="R17027f840cb949c3" /><Relationship Type="http://schemas.openxmlformats.org/officeDocument/2006/relationships/notesSlide" Target="/ppt/notesSlides/notesSlide13.xml" Id="R2f65c2922df0471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f016452564a9b" /><Relationship Type="http://schemas.openxmlformats.org/officeDocument/2006/relationships/notesSlide" Target="/ppt/notesSlides/notesSlide14.xml" Id="Rf99997a904a04a6d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lineMarker"/>
        <c:ser>
          <c:idx val="0"/>
          <c:order val="0"/>
          <c:tx>
            <c:strRef>
              <c:f>Sheet1!$B$1</c:f>
              <c:strCache>
                <c:ptCount val="1"/>
                <c:pt idx="0">
                  <c:v>P(accept | a)</c:v>
                </c:pt>
              </c:strCache>
            </c:strRef>
          </c:tx>
          <c:spPr>
            <a:ln xmlns:a="http://schemas.openxmlformats.org/drawingml/2006/main" w="25400">
              <a:solidFill>
                <a:srgbClr val="0065BD"/>
              </a:solidFill>
            </a:ln>
          </c:spPr>
          <c:marker>
            <c:symbol val="none"/>
          </c:marker>
          <c:dLbls/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0.0001</c:v>
                </c:pt>
                <c:pt idx="1">
                  <c:v>0.0002</c:v>
                </c:pt>
                <c:pt idx="2">
                  <c:v>0.0002</c:v>
                </c:pt>
                <c:pt idx="3">
                  <c:v>0.0003</c:v>
                </c:pt>
                <c:pt idx="4">
                  <c:v>0.0004</c:v>
                </c:pt>
                <c:pt idx="5">
                  <c:v>0.0006</c:v>
                </c:pt>
                <c:pt idx="6">
                  <c:v>0.0007</c:v>
                </c:pt>
                <c:pt idx="7">
                  <c:v>0.001</c:v>
                </c:pt>
                <c:pt idx="8">
                  <c:v>0.0014</c:v>
                </c:pt>
                <c:pt idx="9">
                  <c:v>0.0018</c:v>
                </c:pt>
                <c:pt idx="10">
                  <c:v>0.0025</c:v>
                </c:pt>
                <c:pt idx="11">
                  <c:v>0.0033</c:v>
                </c:pt>
                <c:pt idx="12">
                  <c:v>0.0045</c:v>
                </c:pt>
                <c:pt idx="13">
                  <c:v>0.0061</c:v>
                </c:pt>
                <c:pt idx="14">
                  <c:v>0.0082</c:v>
                </c:pt>
                <c:pt idx="15">
                  <c:v>0.011</c:v>
                </c:pt>
                <c:pt idx="16">
                  <c:v>0.0148</c:v>
                </c:pt>
                <c:pt idx="17">
                  <c:v>0.0198</c:v>
                </c:pt>
                <c:pt idx="18">
                  <c:v>0.0266</c:v>
                </c:pt>
                <c:pt idx="19">
                  <c:v>0.0356</c:v>
                </c:pt>
                <c:pt idx="20">
                  <c:v>0.0474</c:v>
                </c:pt>
                <c:pt idx="21">
                  <c:v>0.063</c:v>
                </c:pt>
                <c:pt idx="22">
                  <c:v>0.0832</c:v>
                </c:pt>
                <c:pt idx="23">
                  <c:v>0.1091</c:v>
                </c:pt>
                <c:pt idx="24">
                  <c:v>0.1419</c:v>
                </c:pt>
                <c:pt idx="25">
                  <c:v>0.1824</c:v>
                </c:pt>
                <c:pt idx="26">
                  <c:v>0.2315</c:v>
                </c:pt>
                <c:pt idx="27">
                  <c:v>0.2891</c:v>
                </c:pt>
                <c:pt idx="28">
                  <c:v>0.3543</c:v>
                </c:pt>
                <c:pt idx="29">
                  <c:v>0.4256</c:v>
                </c:pt>
                <c:pt idx="30">
                  <c:v>0.5</c:v>
                </c:pt>
                <c:pt idx="31">
                  <c:v>0.5744</c:v>
                </c:pt>
                <c:pt idx="32">
                  <c:v>0.6457</c:v>
                </c:pt>
                <c:pt idx="33">
                  <c:v>0.7109</c:v>
                </c:pt>
                <c:pt idx="34">
                  <c:v>0.7685</c:v>
                </c:pt>
                <c:pt idx="35">
                  <c:v>0.8176</c:v>
                </c:pt>
                <c:pt idx="36">
                  <c:v>0.8581</c:v>
                </c:pt>
                <c:pt idx="37">
                  <c:v>0.8909</c:v>
                </c:pt>
                <c:pt idx="38">
                  <c:v>0.9168</c:v>
                </c:pt>
                <c:pt idx="39">
                  <c:v>0.937</c:v>
                </c:pt>
                <c:pt idx="40">
                  <c:v>0.9526</c:v>
                </c:pt>
              </c:numCache>
            </c:numRef>
          </c:yVal>
        </c:ser>
        <c:ser>
          <c:idx val="1"/>
          <c:order val="1"/>
          <c:tx>
            <c:strRef>
              <c:f>Sheet1!$B$44</c:f>
              <c:strCache>
                <c:ptCount val="1"/>
                <c:pt idx="0">
                  <c:v>prize (1 - a)</c:v>
                </c:pt>
              </c:strCache>
            </c:strRef>
          </c:tx>
          <c:spPr>
            <a:ln xmlns:a="http://schemas.openxmlformats.org/drawingml/2006/main" w="19050">
              <a:solidFill>
                <a:srgbClr val="9A9A9A"/>
              </a:solidFill>
            </a:ln>
          </c:spPr>
          <c:marker>
            <c:symbol val="none"/>
          </c:marker>
          <c:dLbls/>
          <c:xVal>
            <c:numRef>
              <c:f>Sheet1!$A$45:$A$85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Sheet1!$B$45:$B$85</c:f>
              <c:numCache>
                <c:formatCode>General</c:formatCode>
                <c:ptCount val="41"/>
                <c:pt idx="0">
                  <c:v>1</c:v>
                </c:pt>
                <c:pt idx="1">
                  <c:v>0.975</c:v>
                </c:pt>
                <c:pt idx="2">
                  <c:v>0.95</c:v>
                </c:pt>
                <c:pt idx="3">
                  <c:v>0.925</c:v>
                </c:pt>
                <c:pt idx="4">
                  <c:v>0.9</c:v>
                </c:pt>
                <c:pt idx="5">
                  <c:v>0.875</c:v>
                </c:pt>
                <c:pt idx="6">
                  <c:v>0.85</c:v>
                </c:pt>
                <c:pt idx="7">
                  <c:v>0.825</c:v>
                </c:pt>
                <c:pt idx="8">
                  <c:v>0.8</c:v>
                </c:pt>
                <c:pt idx="9">
                  <c:v>0.775</c:v>
                </c:pt>
                <c:pt idx="10">
                  <c:v>0.75</c:v>
                </c:pt>
                <c:pt idx="11">
                  <c:v>0.725</c:v>
                </c:pt>
                <c:pt idx="12">
                  <c:v>0.7</c:v>
                </c:pt>
                <c:pt idx="13">
                  <c:v>0.675</c:v>
                </c:pt>
                <c:pt idx="14">
                  <c:v>0.65</c:v>
                </c:pt>
                <c:pt idx="15">
                  <c:v>0.625</c:v>
                </c:pt>
                <c:pt idx="16">
                  <c:v>0.6</c:v>
                </c:pt>
                <c:pt idx="17">
                  <c:v>0.575</c:v>
                </c:pt>
                <c:pt idx="18">
                  <c:v>0.55</c:v>
                </c:pt>
                <c:pt idx="19">
                  <c:v>0.525</c:v>
                </c:pt>
                <c:pt idx="20">
                  <c:v>0.5</c:v>
                </c:pt>
                <c:pt idx="21">
                  <c:v>0.475</c:v>
                </c:pt>
                <c:pt idx="22">
                  <c:v>0.45</c:v>
                </c:pt>
                <c:pt idx="23">
                  <c:v>0.425</c:v>
                </c:pt>
                <c:pt idx="24">
                  <c:v>0.4</c:v>
                </c:pt>
                <c:pt idx="25">
                  <c:v>0.375</c:v>
                </c:pt>
                <c:pt idx="26">
                  <c:v>0.35</c:v>
                </c:pt>
                <c:pt idx="27">
                  <c:v>0.325</c:v>
                </c:pt>
                <c:pt idx="28">
                  <c:v>0.3</c:v>
                </c:pt>
                <c:pt idx="29">
                  <c:v>0.275</c:v>
                </c:pt>
                <c:pt idx="30">
                  <c:v>0.25</c:v>
                </c:pt>
                <c:pt idx="31">
                  <c:v>0.225</c:v>
                </c:pt>
                <c:pt idx="32">
                  <c:v>0.2</c:v>
                </c:pt>
                <c:pt idx="33">
                  <c:v>0.175</c:v>
                </c:pt>
                <c:pt idx="34">
                  <c:v>0.15</c:v>
                </c:pt>
                <c:pt idx="35">
                  <c:v>0.125</c:v>
                </c:pt>
                <c:pt idx="36">
                  <c:v>0.1</c:v>
                </c:pt>
                <c:pt idx="37">
                  <c:v>0.075</c:v>
                </c:pt>
                <c:pt idx="38">
                  <c:v>0.05</c:v>
                </c:pt>
                <c:pt idx="39">
                  <c:v>0.025</c:v>
                </c:pt>
                <c:pt idx="40">
                  <c:v>0</c:v>
                </c:pt>
              </c:numCache>
            </c:numRef>
          </c:yVal>
        </c:ser>
        <c:ser>
          <c:idx val="2"/>
          <c:order val="2"/>
          <c:tx>
            <c:strRef>
              <c:f>Sheet1!$B$87</c:f>
              <c:strCache>
                <c:ptCount val="1"/>
                <c:pt idx="0">
                  <c:v>E[savings]</c:v>
                </c:pt>
              </c:strCache>
            </c:strRef>
          </c:tx>
          <c:spPr>
            <a:ln xmlns:a="http://schemas.openxmlformats.org/drawingml/2006/main" w="38100">
              <a:solidFill>
                <a:srgbClr val="042C53"/>
              </a:solidFill>
            </a:ln>
          </c:spPr>
          <c:marker>
            <c:symbol val="none"/>
          </c:marker>
          <c:dLbls/>
          <c:xVal>
            <c:numRef>
              <c:f>Sheet1!$A$88:$A$128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Sheet1!$B$88:$B$128</c:f>
              <c:numCache>
                <c:formatCode>General</c:formatCode>
                <c:ptCount val="41"/>
                <c:pt idx="0">
                  <c:v>0.0001</c:v>
                </c:pt>
                <c:pt idx="1">
                  <c:v>0.0002</c:v>
                </c:pt>
                <c:pt idx="2">
                  <c:v>0.0002</c:v>
                </c:pt>
                <c:pt idx="3">
                  <c:v>0.0003</c:v>
                </c:pt>
                <c:pt idx="4">
                  <c:v>0.0004</c:v>
                </c:pt>
                <c:pt idx="5">
                  <c:v>0.0005</c:v>
                </c:pt>
                <c:pt idx="6">
                  <c:v>0.0006</c:v>
                </c:pt>
                <c:pt idx="7">
                  <c:v>0.0008</c:v>
                </c:pt>
                <c:pt idx="8">
                  <c:v>0.0011</c:v>
                </c:pt>
                <c:pt idx="9">
                  <c:v>0.0014</c:v>
                </c:pt>
                <c:pt idx="10">
                  <c:v>0.0019</c:v>
                </c:pt>
                <c:pt idx="11">
                  <c:v>0.0024</c:v>
                </c:pt>
                <c:pt idx="12">
                  <c:v>0.0031</c:v>
                </c:pt>
                <c:pt idx="13">
                  <c:v>0.0041</c:v>
                </c:pt>
                <c:pt idx="14">
                  <c:v>0.0053</c:v>
                </c:pt>
                <c:pt idx="15">
                  <c:v>0.0069</c:v>
                </c:pt>
                <c:pt idx="16">
                  <c:v>0.0089</c:v>
                </c:pt>
                <c:pt idx="17">
                  <c:v>0.0114</c:v>
                </c:pt>
                <c:pt idx="18">
                  <c:v>0.0146</c:v>
                </c:pt>
                <c:pt idx="19">
                  <c:v>0.0187</c:v>
                </c:pt>
                <c:pt idx="20">
                  <c:v>0.0237</c:v>
                </c:pt>
                <c:pt idx="21">
                  <c:v>0.0299</c:v>
                </c:pt>
                <c:pt idx="22">
                  <c:v>0.0374</c:v>
                </c:pt>
                <c:pt idx="23">
                  <c:v>0.0464</c:v>
                </c:pt>
                <c:pt idx="24">
                  <c:v>0.0567</c:v>
                </c:pt>
                <c:pt idx="25">
                  <c:v>0.0684</c:v>
                </c:pt>
                <c:pt idx="26">
                  <c:v>0.081</c:v>
                </c:pt>
                <c:pt idx="27">
                  <c:v>0.0939</c:v>
                </c:pt>
                <c:pt idx="28">
                  <c:v>0.1063</c:v>
                </c:pt>
                <c:pt idx="29">
                  <c:v>0.117</c:v>
                </c:pt>
                <c:pt idx="30">
                  <c:v>0.125</c:v>
                </c:pt>
                <c:pt idx="31">
                  <c:v>0.1292</c:v>
                </c:pt>
                <c:pt idx="32">
                  <c:v>0.1291</c:v>
                </c:pt>
                <c:pt idx="33">
                  <c:v>0.1244</c:v>
                </c:pt>
                <c:pt idx="34">
                  <c:v>0.1153</c:v>
                </c:pt>
                <c:pt idx="35">
                  <c:v>0.1022</c:v>
                </c:pt>
                <c:pt idx="36">
                  <c:v>0.0858</c:v>
                </c:pt>
                <c:pt idx="37">
                  <c:v>0.0668</c:v>
                </c:pt>
                <c:pt idx="38">
                  <c:v>0.0458</c:v>
                </c:pt>
                <c:pt idx="39">
                  <c:v>0.0234</c:v>
                </c:pt>
                <c:pt idx="40">
                  <c:v>0</c:v>
                </c:pt>
              </c:numCache>
            </c:numRef>
          </c:yVal>
        </c:ser>
        <c:dLbls/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crossAx val="48650112"/>
        <c:crosses val="autoZero"/>
        <c:crossBetween val="midCat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crossAx val="48672768"/>
        <c:crosses val="autoZero"/>
        <c:crossBetween val="midCat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/>
              <a:t>Effective sample size at bandwidth h = 0.05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ESS fraction</c:v>
                </c:pt>
              </c:strCache>
            </c:strRef>
          </c:tx>
          <c:spPr>
            <a:solidFill xmlns:a="http://schemas.openxmlformats.org/drawingml/2006/main">
              <a:srgbClr val="0065BD"/>
            </a:solidFill>
          </c:spPr>
          <c:dLbls/>
          <c:cat>
            <c:strRef>
              <c:f>Sheet1!$A$2:$A$4</c:f>
              <c:strCache>
                <c:ptCount val="3"/>
                <c:pt idx="0">
                  <c:v>Greedy</c:v>
                </c:pt>
                <c:pt idx="1">
                  <c:v>CQL (offline RL)</c:v>
                </c:pt>
                <c:pt idx="2">
                  <c:v>Fixed 0.70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0.008</c:v>
                </c:pt>
                <c:pt idx="1">
                  <c:v>0.362</c:v>
                </c:pt>
                <c:pt idx="2">
                  <c:v>0.362</c:v>
                </c:pt>
              </c:numCache>
            </c:numRef>
          </c:val>
        </c:ser>
        <c:dLbls>
          <c:numFmt formatCode="0.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out"/>
        <c:minorTickMark val="none"/>
        <c:tickLblPos val="nextTo"/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4"/>
          <c:min val="0"/>
        </c:scaling>
        <c:delete val="0"/>
        <c:axPos val="b"/>
        <c:numFmt formatCode="General"/>
        <c:majorTickMark val="out"/>
        <c:minorTickMark val="none"/>
        <c:tickLblPos val="nextTo"/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b34174924146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0" y="274320"/>
            <a:ext cx="896112" cy="475488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75EAF-58EB-43DB-9F48-0DB416B6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914400"/>
            <a:ext cx="81381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Offline and Simulated Online Reinforcement Learning for eBay Best Offer Anchoring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0A1540-5F20-47E5-9C74-D7F725CC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965960"/>
            <a:ext cx="7772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5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Support-aware decision support for buyer opening offers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88E6E6-EF15-4E42-BE35-1E6BC00B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73152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5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Nathan Nozik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Final project presentation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5F5757-F916-4E01-BC1A-31F79EF1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8138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Advanced Seminar (WIHN0043SE): Real-World Applications of Deep Learning and Reinforcement Learning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TUM School of Management | Chair of Business Analytics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Heilbronn, 31.07.2026</a:t>
            </a:r>
          </a:p>
        </p:txBody>
      </p:sp>
    </p:spTree>
    <p:extLst>
      <p:ext uri="{BB962C8B-B14F-4D97-AF65-F5344CB8AC3E}">
        <p14:creationId xmlns:p14="http://schemas.microsoft.com/office/powerpoint/2010/main" val="4078145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e1fe9cd4145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14AE2C-E152-4134-8857-8AB12705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C8A6E62-C0D9-4844-A296-77A3FC67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D7C6D4F-8875-490D-A75C-43DEE23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6C2D7D-56FE-451A-AEB9-AC648583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opening anchors need support-aware modeling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EFF932-27EA-42BE-B7DC-5D06608C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8119107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8dae114829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E246E2-504A-4F5A-84A6-C6B3449B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Why: the lowest offer is not automatically the best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771A38-2E9A-4A08-AF9F-3CC45E15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F637BDE-D3BB-49EE-A4E6-487AD23B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9645AFE-33CA-4C4F-9289-57E89433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207008"/>
            <a:ext cx="3977639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jacket lists at EUR 100 with Best Offer. What do you offer?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anchors raise the prize (1 - a) but lower the chance of acceptance.</a:t>
            </a:r>
          </a:p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Expected savings: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3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E[savings]  =  P(accept | s, a) × (1 − a)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product peaks at an interior anchor - neither the lowest nor the highest offer wins.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Framed as buyer decision support - no causal claims about influencing sellers.</a:t>
            </a:r>
          </a:p>
        </p:txBody>
      </p:sp>
      <p:graphicFrame>
        <p:nvGraphicFramePr>
          <p:cNvPr id="16" name="Chart 6"/>
          <p:cNvGraphicFramePr/>
          <p:nvPr/>
        </p:nvGraphicFramePr>
        <p:xfrm>
          <a:off xmlns:a="http://schemas.openxmlformats.org/drawingml/2006/main" x="4572000" y="960120"/>
          <a:ext xmlns:a="http://schemas.openxmlformats.org/drawingml/2006/main" cx="43434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e85f79c7134076"/>
          </a:graphicData>
        </a:graphic>
      </p:graphicFrame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1670342-2B97-48AD-887C-A6517CFD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07408"/>
            <a:ext cx="4343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Illustrative curves; anchor a on the horizontal axis.</a:t>
            </a:r>
          </a:p>
        </p:txBody>
      </p:sp>
    </p:spTree>
    <p:extLst>
      <p:ext uri="{BB962C8B-B14F-4D97-AF65-F5344CB8AC3E}">
        <p14:creationId xmlns:p14="http://schemas.microsoft.com/office/powerpoint/2010/main" val="6011339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2c4e4c1ee42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8BDD1C-B037-4F9A-9DBF-25A1C55A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Why: what is known - and what the data cannot give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5419F47-5D2A-45D2-8161-088C2DAD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60E619D-C166-4A75-8823-BA7B1EDE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1EA289-3010-4C23-88B5-7FDD4AA7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09728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What prior work establishes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C9C5D9-AD35-4860-8FEB-F24444AC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463040"/>
            <a:ext cx="41148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Numeric anchors shape judgment and negotiation outcomes (Tversky &amp; Kahneman 1974; Galinsky &amp; Mussweiler 2001).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eBay Best Offer is real, large-scale sequential bargaining (Backus, Blake, Larsen &amp; Tadelis, QJE 2020).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Offline RL learns from logged data but must control distribution shift (CQL - Kumar et al. 2020; Levine et al. 2020).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C7A857C-F844-4586-A934-29BF1BEE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097280"/>
            <a:ext cx="3977639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The catch in this dataset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043AAD-F4DD-4C41-8090-733BEFC3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463040"/>
            <a:ext cx="3977639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data are observational: buyers chose their own anchors - nothing was randomized.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greedy optimizer can select anchors the logs barely contain.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 support diagnostics matter as much as reward estimates.</a:t>
            </a:r>
          </a:p>
        </p:txBody>
      </p:sp>
    </p:spTree>
    <p:extLst>
      <p:ext uri="{BB962C8B-B14F-4D97-AF65-F5344CB8AC3E}">
        <p14:creationId xmlns:p14="http://schemas.microsoft.com/office/powerpoint/2010/main" val="134598583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3254f719643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1B8F89-AE3F-4076-A7C3-63DC36F2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481F63C-145E-4C2D-820B-18D11972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C9EA40B-BCF0-4616-9B02-21826E04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A2C575-6169-44A1-9D15-9A355952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9.6M logged offers to a support-aware comparison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03704CD-A5EC-454B-98D0-FFB14D54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1964767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4c0909b3c45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374B7E-EA66-4828-8A12-A43EAEF5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a one-step decision problem (contextual bandit)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44212E-3DE0-4B8A-9454-8969DFE7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340CB1A-36E7-4E07-8D37-E0921D5F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A1EAD5-C704-441A-B257-4E44440D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67A2E79-99DE-4D5D-9823-F0987F41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143000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listing/seller features: log list price, seller score, seller positive %, category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9A20BC-7351-4597-8602-76D36927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801368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ED286D-30BF-411B-8353-C80657D9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801368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anchor a = opening offer / list price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9ED16F-91AB-4A39-AE7B-913C296F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459736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Reward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E5915A3-0E18-4884-8E52-09AD731C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459736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1 - a if the offer is accepted, otherwise 0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4B0828A-1F61-4167-A9C6-FB2C3414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118104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Objective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B8F12BB-ECB1-415D-800B-EDB119A6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118104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E[savings | s, a] = P(accept | s, a) × (1 − a)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C32D7D2-1157-4106-B727-A5BFF50C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77639"/>
            <a:ext cx="5577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No separate price model: accepted-offer savings are mechanical in the anchor - the acceptance model is the whole learned surface.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84F24B9-2F4A-413B-8636-9D862395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051560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7.67M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51552B5-2F67-4916-92E8-BAF89949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27048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training interactions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73EA10A-EC6E-4760-8382-802BDF9C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56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0.701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45F5C8A-BE51-425B-A138-28A7DB8D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1176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test AUC, acceptance model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A4AB0B-7546-4A33-9805-C9FA64B2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99816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0.31 - 0.93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7918696-6900-46E1-B9E7-7B8A96E2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75304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anchor support (p5 - p95)</a:t>
            </a:r>
          </a:p>
        </p:txBody>
      </p:sp>
    </p:spTree>
    <p:extLst>
      <p:ext uri="{BB962C8B-B14F-4D97-AF65-F5344CB8AC3E}">
        <p14:creationId xmlns:p14="http://schemas.microsoft.com/office/powerpoint/2010/main" val="8875451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22a4a80ce4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165DFA4-5616-4240-959E-E5ADDA91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Phase 1 predicts acceptance - greedy use is unsafe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7E28F6A-8B2D-4B6E-A3FD-DFCC3ACB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14979FD-D9C8-453A-9CE2-491578BD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E25A2E2-B7CF-43EF-A751-F2176688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416052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Phase 1 learns P(accept | state, anchor).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a response model, not a value function - expected savings are derived afterwards as P(accept) × (1 − a).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model is useful for prediction and simple baselines.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failure appears when the learned surface is maximized greedily: target anchors move outside reliable logged support.</a:t>
            </a:r>
          </a:p>
        </p:txBody>
      </p:sp>
      <p:graphicFrame>
        <p:nvGraphicFramePr>
          <p:cNvPr id="17" name="Table 6"/>
          <p:cNvGraphicFramePr/>
          <p:nvPr/>
        </p:nvGraphicFramePr>
        <p:xfrm>
          <a:off xmlns:a="http://schemas.openxmlformats.org/drawingml/2006/main" x="4846320" y="1234440"/>
          <a:ext xmlns:a="http://schemas.openxmlformats.org/drawingml/2006/main" cx="3931920" cy="17373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234440"/>
                <a:gridCol w="1554480"/>
              </a:tblGrid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Signal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Predictor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AUC 0.701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usable acceptance model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Fixed 0.70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0.0268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expected savings (model)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Greedy 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ESS 0.008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almost no logged support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7680F5F-8DE9-4DB4-BA5D-75C7B9EE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108960"/>
            <a:ext cx="3931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ESS shown for bandwidth h = 0.05.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51EE233-E414-4D01-8981-AA8D9399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160520"/>
            <a:ext cx="8412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closes Phase 1: prediction works, but support-aware optimization is still needed.</a:t>
            </a:r>
          </a:p>
        </p:txBody>
      </p:sp>
    </p:spTree>
    <p:extLst>
      <p:ext uri="{BB962C8B-B14F-4D97-AF65-F5344CB8AC3E}">
        <p14:creationId xmlns:p14="http://schemas.microsoft.com/office/powerpoint/2010/main" val="4264470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ba8bd3ec6541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83E97F-F11F-47F5-87E0-8CB0253C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four policies, four levels of trust in the model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E2BA57-2034-4317-8AD1-7045B668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F39912C-EDB0-44E7-810E-DA982D8B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2123B51-CDA9-41A7-8567-478C0A9B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AF3F2C-2653-4182-9332-C7BCF5DC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Fixed 0.70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CEE524C-E4CF-4104-B46D-3A4B7C28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evaluate the estimate at one anchor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67CA90-C854-4758-A67F-85B69B68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no search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ECD0CAD-7B82-4766-81E1-ECF9FE33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8882770-8EF0-4F25-9717-18F361F3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Greedy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FB19DB-EA00-4F88-824A-8499700E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maximize the estimate everywhere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2DC8757-0E2D-473E-BA48-51825352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trusts the model fully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0463241-CA12-4654-8E6A-D98A0728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06856CD-923E-4C46-A247-5436B3B7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CQL (offline RL)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9DA22CE-35BF-42B8-9889-E7F4277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maximize with a conservatism penalty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CF59400-6223-4B4D-B549-47F3970C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distrusts off-support actions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B6C271D2-3C3C-4EDF-9AA2-F01710B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0296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99CF256-6840-441A-BCF3-0DDED900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PPO (simulator)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FE71CA8-6292-40E4-8633-13C38FE8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 inside a learned environment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6D08D8D-57AE-439A-BDC1-B1E5B873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simulator-only evidence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8C26FE3-8378-41B0-9F2A-081DEEB3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429000"/>
            <a:ext cx="8412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objective, increasing skepticism about P(accept | s, a) where data are thin.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CEC2D95-023B-49EB-B901-FED6F596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31920"/>
            <a:ext cx="8412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Every reported number carries an evidence type: observed | model estimate | simulator-only.</a:t>
            </a:r>
          </a:p>
        </p:txBody>
      </p:sp>
    </p:spTree>
    <p:extLst>
      <p:ext uri="{BB962C8B-B14F-4D97-AF65-F5344CB8AC3E}">
        <p14:creationId xmlns:p14="http://schemas.microsoft.com/office/powerpoint/2010/main" val="5124329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e16b5eaed4b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7F48D1-DCB8-4338-BA52-28B02CDF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can a policy even be evaluated from the logs?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71F0927-DCC4-4B73-8742-C56F3CFB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CB4CEE-2C69-4243-95A5-188269FF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FD828E-93A8-4E5A-9C56-8A7772F3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097280"/>
            <a:ext cx="3749039" cy="310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True logging propensities are unavailable, so off-policy evaluation is diagnostic, not causal.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Effective sample size (ESS) measures how much logged data actually supports a target policy.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Greedy keeps 0.8% effective support: its attractive estimate is unverifiable extrapolation.</a:t>
            </a:r>
          </a:p>
        </p:txBody>
      </p:sp>
      <p:graphicFrame>
        <p:nvGraphicFramePr>
          <p:cNvPr id="14" name="Chart 6"/>
          <p:cNvGraphicFramePr/>
          <p:nvPr/>
        </p:nvGraphicFramePr>
        <p:xfrm>
          <a:off xmlns:a="http://schemas.openxmlformats.org/drawingml/2006/main" x="4343400" y="1051560"/>
          <a:ext xmlns:a="http://schemas.openxmlformats.org/drawingml/2006/main" cx="4572000" cy="32918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76a196c35d47cf"/>
          </a:graphicData>
        </a:graphic>
      </p:graphicFrame>
    </p:spTree>
    <p:extLst>
      <p:ext uri="{BB962C8B-B14F-4D97-AF65-F5344CB8AC3E}">
        <p14:creationId xmlns:p14="http://schemas.microsoft.com/office/powerpoint/2010/main" val="13024440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6b2d4cf30c40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691780-024D-4906-ADD8-BC8EA2A5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016C7A-192A-452A-AA17-AB3E73B1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5E26543-5019-41E2-A879-B1233072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What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C619BB-427C-4E86-AE15-DE3DDF3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Results, honest claims, and what remains open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E2DB49-CA71-4848-B960-DC251F65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48837286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9799cf1ec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78C924-5670-47FF-A23C-10ACFF3E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What: evidence triage, not a leaderboard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DF65D9-8063-433F-A8F6-1D9AA395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562B728-E6A8-4FC6-AA01-F83E2B5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5" name="Table 5"/>
          <p:cNvGraphicFramePr/>
          <p:nvPr/>
        </p:nvGraphicFramePr>
        <p:xfrm>
          <a:off xmlns:a="http://schemas.openxmlformats.org/drawingml/2006/main" x="384048" y="1143000"/>
          <a:ext xmlns:a="http://schemas.openxmlformats.org/drawingml/2006/main" cx="8375904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1371600"/>
                <a:gridCol w="1700784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Policy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type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E[savings]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Deal / accept rate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anchor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Behavioral (historical)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0.128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0.665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Fixed anchor 0.70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model estimate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0.027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0.089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0.700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CQL offline RL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model estimate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0.020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0.769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PPO faithful simulator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simulator-only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0.184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0.270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0.318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5CD8A6-62A2-4396-881F-D490C4BE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703320"/>
            <a:ext cx="8412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Rows carry different evidence types: the PPO row is a learned-simulator stress test and is not comparable to the observed behavioral row.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A8450B3-85AF-4D3C-967E-7251DB07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16052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Under the same model surface, conservative CQL does not beat logged behavior - a negative result that motivates the diagnostics.</a:t>
            </a:r>
          </a:p>
        </p:txBody>
      </p:sp>
    </p:spTree>
    <p:extLst>
      <p:ext uri="{BB962C8B-B14F-4D97-AF65-F5344CB8AC3E}">
        <p14:creationId xmlns:p14="http://schemas.microsoft.com/office/powerpoint/2010/main" val="180299991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17954d25944c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A106B-6CBA-43CC-80DC-9B03D1BE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What: claims this evidence supports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901D92C-3461-4E64-A61A-128FC16C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4F53F3-FB94-42F3-ABE2-692E6D99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897214-F81C-4DE5-AF52-8EED5A6E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Supported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12537C-4CD8-4791-B9B0-25AD30EA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14300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Greedy supervised maximization leaves the data's support; CQL stays evaluable (ESS 36% vs 0.8%).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FD08B38-893F-4682-B13B-B7EEA9BC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92024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Cautious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0EC73E-FAB0-4237-A53F-33FEE80E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92024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PPO's high simulator savings are a stress test of the learned environment, not marketplace performance.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466F86D-CE8B-479C-B6E6-E20E8666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69748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claimed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0D60BA-8227-41A2-B66D-EC00C9DA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69748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Live marketplace lift, causal anchoring effects, or an optimal offer policy.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F901A1F-412A-411D-A3AC-7CA5BA91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65760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7B9B380-DF38-48F4-8BEF-7283E5BD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3657600"/>
            <a:ext cx="6766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Sequential counteroffers (about 40% of threads contain a second move), richer item features, temporal and leaf-holdout robustness tables.</a:t>
            </a:r>
          </a:p>
        </p:txBody>
      </p:sp>
    </p:spTree>
    <p:extLst>
      <p:ext uri="{BB962C8B-B14F-4D97-AF65-F5344CB8AC3E}">
        <p14:creationId xmlns:p14="http://schemas.microsoft.com/office/powerpoint/2010/main" val="35566855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27f840cb9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54983E-32BB-4E03-93EB-FB89FC6C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Takeaway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FF06A2C-CBAD-457A-8CF6-FAF2BCDC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1D4D01E-5B4A-4EA6-A46D-9B1AA308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4D6FEB-2025-49AB-A98A-C7136670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7498079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lowest offer is not the best decision - and the highest estimate is not the best evidence.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7CB5BB0-CA33-4C49-9C35-21F5985E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51760"/>
            <a:ext cx="7498079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Contribution: a reproducible, support-aware pipeline that makes extrapolation measurable before a recommendation is trusted.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Next: multi-turn counteroffers with explicit uncertainty - the rejection branch stops being zero.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3CA7B91-53C5-489B-85C0-42CB2EB3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1480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Thank you - questions welcome.</a:t>
            </a:r>
          </a:p>
        </p:txBody>
      </p:sp>
    </p:spTree>
    <p:extLst>
      <p:ext uri="{BB962C8B-B14F-4D97-AF65-F5344CB8AC3E}">
        <p14:creationId xmlns:p14="http://schemas.microsoft.com/office/powerpoint/2010/main" val="3231613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55E245-BD5D-4DF9-BCCE-7D5954D2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000000"/>
                </a:solidFill>
              </a:defRPr>
            </a:pPr>
            <a:r>
              <a:rPr sz="2175" b="1" i="0">
                <a:solidFill>
                  <a:srgbClr val="000000"/>
                </a:solidFill>
              </a:rPr>
              <a:t>Appendix: the repository is structured for 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49DA2-BB67-4FE8-8453-E39544C6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F7D00-1CDD-44BF-BE99-2F734D8E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85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6B6B6B"/>
                </a:solidFill>
              </a:defRPr>
            </a:pPr>
            <a:r>
              <a:rPr sz="1238" b="0" i="0">
                <a:solidFill>
                  <a:srgbClr val="6B6B6B"/>
                </a:solidFill>
              </a:rPr>
              <a:t>Flat modules keep the course pipeline readable; ignored runtime folders keep private data and model artifacts out of Git.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9ACE2-876D-4D67-969B-642E8B7B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8B6DD-B44E-4DB3-ABEA-B9E4150E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D1E38-2E8A-439C-B708-10F2B5CB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1. Pipeline modules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4A8FE-615A-41A7-928A-3AB605D5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preprocess -&gt; Phase 1 acceptance model -&gt; CQL offline RL / PPO simulator -&gt; OPE, results, recommendations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045F54-901F-4065-B089-F561D41F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EF69D-DE67-46B1-98B5-398851A4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A0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DA1D39-BDFD-4A6C-B236-70F25D06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2. Data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191C4-37A5-48F2-A5A0-F5146782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Tracked: code, docs, final report, presentation</a:t>
            </a:r>
          </a:p>
          <a:p xmlns:a="http://schemas.openxmlformats.org/drawingml/2006/main">
            <a:pPr algn="l"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Ignored: data/, models/, outputs/, *.parquet, *.csv, *.pt, *.pkl, *.ubj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25788-FF9B-433B-BEBD-44246621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BA688B-BF95-4EE4-B196-FB4C4AB7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A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F37AC-3C26-4273-8B7A-DC803960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3. Evidence labels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36AAF-47C1-48AE-8FA6-95F235E8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Observed behavior, Phase-1 model estimates, OPE support diagnostics, and simulator-only PPO are kept separate.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F0A70-8249-49AF-AE3B-E81B7D6B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10025"/>
            <a:ext cx="8115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C7DD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B6F80-9D43-4AC5-BB74-79AB5FF8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81475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40" b="1" i="0">
                <a:solidFill>
                  <a:srgbClr val="005293"/>
                </a:solidFill>
              </a:defRPr>
            </a:pPr>
            <a:r>
              <a:rPr sz="1140" b="1" i="0">
                <a:solidFill>
                  <a:srgbClr val="005293"/>
                </a:solidFill>
              </a:rPr>
              <a:t>Core MDP values: state = listing/seller context | action = opening-offer anchor | reward = accepted-offer savings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55DCA9-B210-4555-9851-799E880D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857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02" b="0" i="0">
                <a:solidFill>
                  <a:srgbClr val="000000"/>
                </a:solidFill>
              </a:defRPr>
            </a:pPr>
            <a:r>
              <a:rPr sz="1102" b="0" i="0">
                <a:solidFill>
                  <a:srgbClr val="000000"/>
                </a:solidFill>
              </a:rPr>
              <a:t>eBay Best Offer anchoring RL | Advanced Seminar (WIHN0043SE)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0F49A-1F7F-466E-8040-5A8E7CA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02" b="0" i="0">
                <a:solidFill>
                  <a:srgbClr val="000000"/>
                </a:solidFill>
              </a:defRPr>
            </a:pPr>
            <a:r>
              <a:rPr sz="1102" b="0" i="0">
                <a:solidFill>
                  <a:srgbClr val="00000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855857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2026-07-03T10:14:50.4230000Z</dcterms:created>
  <dcterms:modified xsi:type="dcterms:W3CDTF">2026-07-03T10:14:50.4230000Z</dcterms:modified>
</coreProperties>
</file>
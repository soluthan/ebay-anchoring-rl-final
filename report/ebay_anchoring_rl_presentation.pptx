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P(accept | a)</c:v>
                </c:pt>
              </c:strCache>
            </c:strRef>
          </c:tx>
          <c:spPr>
            <a:ln w="25400">
              <a:solidFill>
                <a:srgbClr val="0065BD"/>
              </a:solidFill>
            </a:ln>
          </c:spPr>
          <c:marker>
            <c:symbol val="none"/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0.0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1.0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0.0001</c:v>
                </c:pt>
                <c:pt idx="1">
                  <c:v>0.0002</c:v>
                </c:pt>
                <c:pt idx="2">
                  <c:v>0.0002</c:v>
                </c:pt>
                <c:pt idx="3">
                  <c:v>0.0003</c:v>
                </c:pt>
                <c:pt idx="4">
                  <c:v>0.0004</c:v>
                </c:pt>
                <c:pt idx="5">
                  <c:v>0.0006</c:v>
                </c:pt>
                <c:pt idx="6">
                  <c:v>0.0007</c:v>
                </c:pt>
                <c:pt idx="7">
                  <c:v>0.001</c:v>
                </c:pt>
                <c:pt idx="8">
                  <c:v>0.0014</c:v>
                </c:pt>
                <c:pt idx="9">
                  <c:v>0.0018</c:v>
                </c:pt>
                <c:pt idx="10">
                  <c:v>0.0025</c:v>
                </c:pt>
                <c:pt idx="11">
                  <c:v>0.0033</c:v>
                </c:pt>
                <c:pt idx="12">
                  <c:v>0.0045</c:v>
                </c:pt>
                <c:pt idx="13">
                  <c:v>0.0061</c:v>
                </c:pt>
                <c:pt idx="14">
                  <c:v>0.0082</c:v>
                </c:pt>
                <c:pt idx="15">
                  <c:v>0.011</c:v>
                </c:pt>
                <c:pt idx="16">
                  <c:v>0.0148</c:v>
                </c:pt>
                <c:pt idx="17">
                  <c:v>0.0198</c:v>
                </c:pt>
                <c:pt idx="18">
                  <c:v>0.0266</c:v>
                </c:pt>
                <c:pt idx="19">
                  <c:v>0.0356</c:v>
                </c:pt>
                <c:pt idx="20">
                  <c:v>0.0474</c:v>
                </c:pt>
                <c:pt idx="21">
                  <c:v>0.063</c:v>
                </c:pt>
                <c:pt idx="22">
                  <c:v>0.0832</c:v>
                </c:pt>
                <c:pt idx="23">
                  <c:v>0.1091</c:v>
                </c:pt>
                <c:pt idx="24">
                  <c:v>0.1419</c:v>
                </c:pt>
                <c:pt idx="25">
                  <c:v>0.1824</c:v>
                </c:pt>
                <c:pt idx="26">
                  <c:v>0.2315</c:v>
                </c:pt>
                <c:pt idx="27">
                  <c:v>0.2891</c:v>
                </c:pt>
                <c:pt idx="28">
                  <c:v>0.3543</c:v>
                </c:pt>
                <c:pt idx="29">
                  <c:v>0.4256</c:v>
                </c:pt>
                <c:pt idx="30">
                  <c:v>0.5</c:v>
                </c:pt>
                <c:pt idx="31">
                  <c:v>0.5744</c:v>
                </c:pt>
                <c:pt idx="32">
                  <c:v>0.6457</c:v>
                </c:pt>
                <c:pt idx="33">
                  <c:v>0.7109</c:v>
                </c:pt>
                <c:pt idx="34">
                  <c:v>0.7685</c:v>
                </c:pt>
                <c:pt idx="35">
                  <c:v>0.8176</c:v>
                </c:pt>
                <c:pt idx="36">
                  <c:v>0.8581</c:v>
                </c:pt>
                <c:pt idx="37">
                  <c:v>0.8909</c:v>
                </c:pt>
                <c:pt idx="38">
                  <c:v>0.9168</c:v>
                </c:pt>
                <c:pt idx="39">
                  <c:v>0.937</c:v>
                </c:pt>
                <c:pt idx="40">
                  <c:v>0.9526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Sheet1!$B$44</c:f>
              <c:strCache>
                <c:ptCount val="1"/>
                <c:pt idx="0">
                  <c:v>prize (1 - a)</c:v>
                </c:pt>
              </c:strCache>
            </c:strRef>
          </c:tx>
          <c:spPr>
            <a:ln w="19050">
              <a:solidFill>
                <a:srgbClr val="9A9A9A"/>
              </a:solidFill>
            </a:ln>
          </c:spPr>
          <c:marker>
            <c:symbol val="none"/>
          </c:marker>
          <c:xVal>
            <c:numRef>
              <c:f>Sheet1!$A$45:$A$85</c:f>
              <c:numCache>
                <c:formatCode>General</c:formatCode>
                <c:ptCount val="41"/>
                <c:pt idx="0">
                  <c:v>0.0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1.0</c:v>
                </c:pt>
              </c:numCache>
            </c:numRef>
          </c:xVal>
          <c:yVal>
            <c:numRef>
              <c:f>Sheet1!$B$45:$B$85</c:f>
              <c:numCache>
                <c:formatCode>General</c:formatCode>
                <c:ptCount val="41"/>
                <c:pt idx="0">
                  <c:v>1.0</c:v>
                </c:pt>
                <c:pt idx="1">
                  <c:v>0.975</c:v>
                </c:pt>
                <c:pt idx="2">
                  <c:v>0.95</c:v>
                </c:pt>
                <c:pt idx="3">
                  <c:v>0.925</c:v>
                </c:pt>
                <c:pt idx="4">
                  <c:v>0.9</c:v>
                </c:pt>
                <c:pt idx="5">
                  <c:v>0.875</c:v>
                </c:pt>
                <c:pt idx="6">
                  <c:v>0.85</c:v>
                </c:pt>
                <c:pt idx="7">
                  <c:v>0.825</c:v>
                </c:pt>
                <c:pt idx="8">
                  <c:v>0.8</c:v>
                </c:pt>
                <c:pt idx="9">
                  <c:v>0.775</c:v>
                </c:pt>
                <c:pt idx="10">
                  <c:v>0.75</c:v>
                </c:pt>
                <c:pt idx="11">
                  <c:v>0.725</c:v>
                </c:pt>
                <c:pt idx="12">
                  <c:v>0.7</c:v>
                </c:pt>
                <c:pt idx="13">
                  <c:v>0.675</c:v>
                </c:pt>
                <c:pt idx="14">
                  <c:v>0.65</c:v>
                </c:pt>
                <c:pt idx="15">
                  <c:v>0.625</c:v>
                </c:pt>
                <c:pt idx="16">
                  <c:v>0.6</c:v>
                </c:pt>
                <c:pt idx="17">
                  <c:v>0.575</c:v>
                </c:pt>
                <c:pt idx="18">
                  <c:v>0.55</c:v>
                </c:pt>
                <c:pt idx="19">
                  <c:v>0.525</c:v>
                </c:pt>
                <c:pt idx="20">
                  <c:v>0.5</c:v>
                </c:pt>
                <c:pt idx="21">
                  <c:v>0.475</c:v>
                </c:pt>
                <c:pt idx="22">
                  <c:v>0.45</c:v>
                </c:pt>
                <c:pt idx="23">
                  <c:v>0.425</c:v>
                </c:pt>
                <c:pt idx="24">
                  <c:v>0.4</c:v>
                </c:pt>
                <c:pt idx="25">
                  <c:v>0.375</c:v>
                </c:pt>
                <c:pt idx="26">
                  <c:v>0.35</c:v>
                </c:pt>
                <c:pt idx="27">
                  <c:v>0.325</c:v>
                </c:pt>
                <c:pt idx="28">
                  <c:v>0.3</c:v>
                </c:pt>
                <c:pt idx="29">
                  <c:v>0.275</c:v>
                </c:pt>
                <c:pt idx="30">
                  <c:v>0.25</c:v>
                </c:pt>
                <c:pt idx="31">
                  <c:v>0.225</c:v>
                </c:pt>
                <c:pt idx="32">
                  <c:v>0.2</c:v>
                </c:pt>
                <c:pt idx="33">
                  <c:v>0.175</c:v>
                </c:pt>
                <c:pt idx="34">
                  <c:v>0.15</c:v>
                </c:pt>
                <c:pt idx="35">
                  <c:v>0.125</c:v>
                </c:pt>
                <c:pt idx="36">
                  <c:v>0.1</c:v>
                </c:pt>
                <c:pt idx="37">
                  <c:v>0.075</c:v>
                </c:pt>
                <c:pt idx="38">
                  <c:v>0.05</c:v>
                </c:pt>
                <c:pt idx="39">
                  <c:v>0.025</c:v>
                </c:pt>
                <c:pt idx="40">
                  <c:v>0.0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Sheet1!$B$87</c:f>
              <c:strCache>
                <c:ptCount val="1"/>
                <c:pt idx="0">
                  <c:v>E[savings]</c:v>
                </c:pt>
              </c:strCache>
            </c:strRef>
          </c:tx>
          <c:spPr>
            <a:ln w="38100">
              <a:solidFill>
                <a:srgbClr val="042C53"/>
              </a:solidFill>
            </a:ln>
          </c:spPr>
          <c:marker>
            <c:symbol val="none"/>
          </c:marker>
          <c:xVal>
            <c:numRef>
              <c:f>Sheet1!$A$88:$A$128</c:f>
              <c:numCache>
                <c:formatCode>General</c:formatCode>
                <c:ptCount val="41"/>
                <c:pt idx="0">
                  <c:v>0.0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1.0</c:v>
                </c:pt>
              </c:numCache>
            </c:numRef>
          </c:xVal>
          <c:yVal>
            <c:numRef>
              <c:f>Sheet1!$B$88:$B$128</c:f>
              <c:numCache>
                <c:formatCode>General</c:formatCode>
                <c:ptCount val="41"/>
                <c:pt idx="0">
                  <c:v>0.0001</c:v>
                </c:pt>
                <c:pt idx="1">
                  <c:v>0.0002</c:v>
                </c:pt>
                <c:pt idx="2">
                  <c:v>0.0002</c:v>
                </c:pt>
                <c:pt idx="3">
                  <c:v>0.0003</c:v>
                </c:pt>
                <c:pt idx="4">
                  <c:v>0.0004</c:v>
                </c:pt>
                <c:pt idx="5">
                  <c:v>0.0005</c:v>
                </c:pt>
                <c:pt idx="6">
                  <c:v>0.0006</c:v>
                </c:pt>
                <c:pt idx="7">
                  <c:v>0.0008</c:v>
                </c:pt>
                <c:pt idx="8">
                  <c:v>0.0011</c:v>
                </c:pt>
                <c:pt idx="9">
                  <c:v>0.0014</c:v>
                </c:pt>
                <c:pt idx="10">
                  <c:v>0.0019</c:v>
                </c:pt>
                <c:pt idx="11">
                  <c:v>0.0024</c:v>
                </c:pt>
                <c:pt idx="12">
                  <c:v>0.0031</c:v>
                </c:pt>
                <c:pt idx="13">
                  <c:v>0.0041</c:v>
                </c:pt>
                <c:pt idx="14">
                  <c:v>0.0053</c:v>
                </c:pt>
                <c:pt idx="15">
                  <c:v>0.0069</c:v>
                </c:pt>
                <c:pt idx="16">
                  <c:v>0.0089</c:v>
                </c:pt>
                <c:pt idx="17">
                  <c:v>0.0114</c:v>
                </c:pt>
                <c:pt idx="18">
                  <c:v>0.0146</c:v>
                </c:pt>
                <c:pt idx="19">
                  <c:v>0.0187</c:v>
                </c:pt>
                <c:pt idx="20">
                  <c:v>0.0237</c:v>
                </c:pt>
                <c:pt idx="21">
                  <c:v>0.0299</c:v>
                </c:pt>
                <c:pt idx="22">
                  <c:v>0.0374</c:v>
                </c:pt>
                <c:pt idx="23">
                  <c:v>0.0464</c:v>
                </c:pt>
                <c:pt idx="24">
                  <c:v>0.0567</c:v>
                </c:pt>
                <c:pt idx="25">
                  <c:v>0.0684</c:v>
                </c:pt>
                <c:pt idx="26">
                  <c:v>0.081</c:v>
                </c:pt>
                <c:pt idx="27">
                  <c:v>0.0939</c:v>
                </c:pt>
                <c:pt idx="28">
                  <c:v>0.1063</c:v>
                </c:pt>
                <c:pt idx="29">
                  <c:v>0.117</c:v>
                </c:pt>
                <c:pt idx="30">
                  <c:v>0.125</c:v>
                </c:pt>
                <c:pt idx="31">
                  <c:v>0.1292</c:v>
                </c:pt>
                <c:pt idx="32">
                  <c:v>0.1291</c:v>
                </c:pt>
                <c:pt idx="33">
                  <c:v>0.1244</c:v>
                </c:pt>
                <c:pt idx="34">
                  <c:v>0.1153</c:v>
                </c:pt>
                <c:pt idx="35">
                  <c:v>0.1022</c:v>
                </c:pt>
                <c:pt idx="36">
                  <c:v>0.0858</c:v>
                </c:pt>
                <c:pt idx="37">
                  <c:v>0.0668</c:v>
                </c:pt>
                <c:pt idx="38">
                  <c:v>0.0458</c:v>
                </c:pt>
                <c:pt idx="39">
                  <c:v>0.0234</c:v>
                </c:pt>
                <c:pt idx="40">
                  <c:v>0.0</c:v>
                </c:pt>
              </c:numCache>
            </c:numRef>
          </c:yVal>
          <c:smooth val="0"/>
        </c:ser>
        <c:axId val="2166026424"/>
        <c:axId val="2165323384"/>
      </c:scatterChart>
      <c:valAx>
        <c:axId val="2166026424"/>
        <c:scaling>
          <c:orientation val="minMax"/>
          <c:max val="1.0"/>
          <c:min val="0.0"/>
        </c:scaling>
        <c:delete val="0"/>
        <c:axPos val="b"/>
        <c:numFmt formatCode="General" sourceLinked="1"/>
        <c:majorTickMark val="out"/>
        <c:minorTickMark val="none"/>
        <c:tickLblPos val="nextTo"/>
        <c:crossAx val="2165323384"/>
        <c:crosses val="autoZero"/>
        <c:crossBetween val="midCat"/>
      </c:valAx>
      <c:valAx>
        <c:axId val="2165323384"/>
        <c:scaling>
          <c:orientation val="minMax"/>
          <c:max val="1.0"/>
          <c:min val="0.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2166026424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Effective sample size at bandwidth h = 0.05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ESS fraction</c:v>
                </c:pt>
              </c:strCache>
            </c:strRef>
          </c:tx>
          <c:spPr>
            <a:solidFill>
              <a:srgbClr val="0065BD"/>
            </a:solidFill>
          </c:spPr>
          <c:cat>
            <c:strRef>
              <c:f>Sheet1!$A$2:$A$4</c:f>
              <c:strCache>
                <c:ptCount val="3"/>
                <c:pt idx="0">
                  <c:v>Greedy</c:v>
                </c:pt>
                <c:pt idx="1">
                  <c:v>CQL (offline RL)</c:v>
                </c:pt>
                <c:pt idx="2">
                  <c:v>Fixed 0.70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0.008</c:v>
                </c:pt>
                <c:pt idx="1">
                  <c:v>0.362</c:v>
                </c:pt>
                <c:pt idx="2">
                  <c:v>0.362</c:v>
                </c:pt>
              </c:numCache>
            </c:numRef>
          </c:val>
        </c:ser>
        <c:dLbls>
          <c:numFmt formatCode="0.0%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out"/>
        <c:minorTickMark val="none"/>
        <c:tickLblPos val="nextTo"/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ax val="0.4"/>
          <c:min val="0.0"/>
        </c:scaling>
        <c:delete val="0"/>
        <c:axPos val="b"/>
        <c:majorTickMark val="out"/>
        <c:minorTickMark val="none"/>
        <c:tickLblPos val="nextTo"/>
        <c:crossAx val="2226939960"/>
        <c:crosses val="autoZero"/>
      </c:valAx>
    </c:plotArea>
    <c:dispBlanksAs val="gap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seconds: name, project in one line - offline RL for buyer opening offers on eBay Best Offer, with the emphasis on when recommendations can be trusted.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Roadmap: Why the problem is interesting, How it is modeled, What the results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hook. Walk the trade-off: prize rises as the offer drops, acceptance falls. The product has an interior peak. One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Prior work in three lines: behavioral anchoring, the eBay bargaining field paper, offline RL. Then the core tension: observational logs, so estimates can leave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One-step MDP, close to a contextual bandit. All models share these four state features - differences between methods are method, not information. Mention the removed price regressor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Ported findings slide: Phase 1 is a response model, not a value function. AUC says prediction is usable; the ESS number previews why greedy maximization of this surface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idea: same expected-savings objective everywhere; methods differ only in how much they trust the estimated acceptance surface off-support.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diagnostic. CQL and the fixed anchor retain around 36 percent effective support; greedy collapses to under one percent. High estimated reward, no evaluability.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column two before column three. Observed, model estimate, simulator-only. The honest finding: no policy provably beats historical buyers; the contribution is knowing which numbers deserve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Claims triage. If asked why savings estimates look small: they are per-thread expected savings including failed offers.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symmetry: behavioral insight for buyers, methodological insight for RL. Invite questions on OPE or the simulator.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u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74320"/>
            <a:ext cx="896112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91440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Offline and Simulated Online Reinforcement Learning for eBay Best Offer Anchoring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659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5F5F"/>
                </a:solidFill>
                <a:latin typeface="Arial"/>
              </a:rPr>
              <a:t>Support-aware decision support for buyer opening offers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432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Nathan Nozik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F5F5F"/>
                </a:solidFill>
                <a:latin typeface="Arial"/>
              </a:rPr>
              <a:t>Final project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947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000000"/>
                </a:solidFill>
                <a:latin typeface="Arial"/>
              </a:rPr>
              <a:t>Advanced Seminar (WIHN0043SE): Real-World Applications of Deep Learning and Reinforcement Learning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000000"/>
                </a:solidFill>
                <a:latin typeface="Arial"/>
              </a:rPr>
              <a:t>TUM School of Management | Chair of Business Analytics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00000"/>
                </a:solidFill>
                <a:latin typeface="Arial"/>
              </a:rPr>
              <a:t>Heilbronn, 31.07.2026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u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237744"/>
            <a:ext cx="77724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47914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9A9A"/>
                </a:solidFill>
                <a:latin typeface="Arial"/>
              </a:rPr>
              <a:t>eBay Best Offer anchoring RL | Advanced Seminar (WIHN0043SE)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4754880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F5F5F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0065BD"/>
                </a:solidFill>
                <a:latin typeface="Arial"/>
              </a:rPr>
              <a:t>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Why opening anchors need support-aware modeling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5F5F"/>
                </a:solidFill>
                <a:latin typeface="Arial"/>
              </a:rPr>
              <a:t>Why | How | What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u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237744"/>
            <a:ext cx="77724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292608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Why: the lowest offer is not automatically the best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914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9A9A"/>
                </a:solidFill>
                <a:latin typeface="Arial"/>
              </a:rPr>
              <a:t>eBay Best Offer anchoring RL | Advanced Seminar (WIHN0043SE)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4754880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F5F5F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207008"/>
            <a:ext cx="39776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A jacket lists at EUR 100 with Best Offer. What do you offer?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00000"/>
                </a:solidFill>
                <a:latin typeface="Arial"/>
              </a:rPr>
              <a:t>Lower anchors raise the prize (1 - a) but lower the chance of acceptance.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000000"/>
                </a:solidFill>
                <a:latin typeface="Arial"/>
              </a:rPr>
              <a:t>Expected savings: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065BD"/>
                </a:solidFill>
                <a:latin typeface="Arial"/>
              </a:rPr>
              <a:t>E[savings]  =  P(accept | s, a) × (1 − a)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00000"/>
                </a:solidFill>
                <a:latin typeface="Arial"/>
              </a:rPr>
              <a:t>The product peaks at an interior anchor - neither the lowest nor the highest offer wins.</a:t>
            </a:r>
          </a:p>
          <a:p>
            <a:pPr algn="l">
              <a:spcAft>
                <a:spcPts val="600"/>
              </a:spcAft>
            </a:pPr>
            <a:r>
              <a:rPr sz="1050" b="0" i="1">
                <a:solidFill>
                  <a:srgbClr val="5F5F5F"/>
                </a:solidFill>
                <a:latin typeface="Arial"/>
              </a:rPr>
              <a:t>Framed as buyer decision support - no causal claims about influencing sellers.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0" y="960120"/>
          <a:ext cx="4343400" cy="3429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0" y="4407408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9A9A"/>
                </a:solidFill>
                <a:latin typeface="Arial"/>
              </a:rPr>
              <a:t>Illustrative curves; anchor a on the horizontal axis.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u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237744"/>
            <a:ext cx="77724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292608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Why: what is known - and what the data cannot give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914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9A9A"/>
                </a:solidFill>
                <a:latin typeface="Arial"/>
              </a:rPr>
              <a:t>eBay Best Offer anchoring RL | Advanced Seminar (WIHN0043SE)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4754880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F5F5F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65BD"/>
                </a:solidFill>
                <a:latin typeface="Arial"/>
              </a:rPr>
              <a:t>What prior work establishes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46304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Numeric anchors shape judgment and negotiation outcomes (Tversky &amp; Kahneman 1974; Galinsky &amp; Mussweiler 2001).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eBay Best Offer is real, large-scale sequential bargaining (Backus, Blake, Larsen &amp; Tadelis, QJE 2020).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Offline RL learns from logged data but must control distribution shift (CQL - Kumar et al. 2020; Levine et al. 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97280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65BD"/>
                </a:solidFill>
                <a:latin typeface="Arial"/>
              </a:rPr>
              <a:t>The catch in this 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1463040"/>
            <a:ext cx="397763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The data are observational: buyers chose their own anchors - nothing was randomized.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A greedy optimizer can select anchors the logs barely contain.</a:t>
            </a:r>
          </a:p>
          <a:p>
            <a:pPr algn="l">
              <a:spcAft>
                <a:spcPts val="900"/>
              </a:spcAft>
            </a:pPr>
            <a:r>
              <a:rPr sz="1250" b="1" i="0">
                <a:solidFill>
                  <a:srgbClr val="000000"/>
                </a:solidFill>
                <a:latin typeface="Arial"/>
              </a:rPr>
              <a:t>So support diagnostics matter as much as reward estimates.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u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237744"/>
            <a:ext cx="77724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47914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9A9A"/>
                </a:solidFill>
                <a:latin typeface="Arial"/>
              </a:rPr>
              <a:t>eBay Best Offer anchoring RL | Advanced Seminar (WIHN0043SE)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4754880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F5F5F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0065BD"/>
                </a:solidFill>
                <a:latin typeface="Arial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From 9.6M logged offers to a support-aware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5F5F"/>
                </a:solidFill>
                <a:latin typeface="Arial"/>
              </a:rPr>
              <a:t>Why | How | What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u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237744"/>
            <a:ext cx="77724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292608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How: a one-step decision problem (contextual bandit)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914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9A9A"/>
                </a:solidFill>
                <a:latin typeface="Arial"/>
              </a:rPr>
              <a:t>eBay Best Offer anchoring RL | Advanced Seminar (WIHN0043SE)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4754880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F5F5F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1430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065BD"/>
                </a:solidFill>
                <a:latin typeface="Arial"/>
              </a:rPr>
              <a:t>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143000"/>
            <a:ext cx="4297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four listing/seller features: log list price, seller score, seller positive %, 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801368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065BD"/>
                </a:solidFill>
                <a:latin typeface="Arial"/>
              </a:rPr>
              <a:t>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01368"/>
            <a:ext cx="4297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anchor a = opening offer / list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459736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065BD"/>
                </a:solidFill>
                <a:latin typeface="Arial"/>
              </a:rPr>
              <a:t>Reward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459736"/>
            <a:ext cx="4297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1 - a if the offer is accepted, otherwise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3118104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065BD"/>
                </a:solidFill>
                <a:latin typeface="Arial"/>
              </a:rPr>
              <a:t>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118104"/>
            <a:ext cx="4297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E[savings | s, a] = P(accept | s, a) × (1 − 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3977639"/>
            <a:ext cx="5577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1">
                <a:solidFill>
                  <a:srgbClr val="5F5F5F"/>
                </a:solidFill>
                <a:latin typeface="Arial"/>
              </a:rPr>
              <a:t>No separate price model: accepted-offer savings are mechanical in the anchor - the acceptance model is the whole learned surface.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0515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0065BD"/>
                </a:solidFill>
                <a:latin typeface="Arial"/>
              </a:rPr>
              <a:t>7.67M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527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F5F5F"/>
                </a:solidFill>
                <a:latin typeface="Arial"/>
              </a:rPr>
              <a:t>training interactions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7568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0065BD"/>
                </a:solidFill>
                <a:latin typeface="Arial"/>
              </a:rPr>
              <a:t>0.701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5117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F5F5F"/>
                </a:solidFill>
                <a:latin typeface="Arial"/>
              </a:rPr>
              <a:t>test AUC, acceptance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9981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0065BD"/>
                </a:solidFill>
                <a:latin typeface="Arial"/>
              </a:rPr>
              <a:t>0.31 - 0.93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7530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F5F5F"/>
                </a:solidFill>
                <a:latin typeface="Arial"/>
              </a:rPr>
              <a:t>anchor support (p5 - p95)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u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237744"/>
            <a:ext cx="77724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292608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How: Phase 1 predicts acceptance - greedy use is unsafe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914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9A9A"/>
                </a:solidFill>
                <a:latin typeface="Arial"/>
              </a:rPr>
              <a:t>eBay Best Offer anchoring RL | Advanced Seminar (WIHN0043SE)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4754880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F5F5F"/>
                </a:solidFill>
                <a:latin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143000"/>
            <a:ext cx="4160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50" b="1" i="0">
                <a:solidFill>
                  <a:srgbClr val="000000"/>
                </a:solidFill>
                <a:latin typeface="Arial"/>
              </a:rPr>
              <a:t>Phase 1 learns P(accept | state, anchor).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It is a response model, not a value function - expected savings are derived afterwards as P(accept) × (1 − a).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The model is useful for prediction and simple baselines.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The failure appears when the learned surface is maximized greedily: target anchors move outside reliable logged support.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0" y="1234440"/>
          <a:ext cx="39319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234440"/>
                <a:gridCol w="1554480"/>
              </a:tblGrid>
              <a:tr h="4343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Signal</a:t>
                      </a:r>
                    </a:p>
                  </a:txBody>
                  <a:tcPr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>
                    <a:solidFill>
                      <a:srgbClr val="0065BD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</a:rPr>
                        <a:t>Predictor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</a:rPr>
                        <a:t>AUC 0.701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</a:rPr>
                        <a:t>usable acceptance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</a:rPr>
                        <a:t>Fixed 0.70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</a:rPr>
                        <a:t>0.0268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</a:rPr>
                        <a:t>expected savings (model)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</a:rPr>
                        <a:t>Greedy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</a:rPr>
                        <a:t>ESS 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</a:rPr>
                        <a:t>almost no logged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846320" y="310896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9A9A9A"/>
                </a:solidFill>
                <a:latin typeface="Arial"/>
              </a:rPr>
              <a:t>ESS shown for bandwidth h = 0.05.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416052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000000"/>
                </a:solidFill>
                <a:latin typeface="Arial"/>
              </a:rPr>
              <a:t>This closes Phase 1: prediction works, but support-aware optimization is still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u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237744"/>
            <a:ext cx="77724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292608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How: four policies, four levels of trust in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914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9A9A"/>
                </a:solidFill>
                <a:latin typeface="Arial"/>
              </a:rPr>
              <a:t>eBay Best Offer anchoring RL | Advanced Seminar (WIHN0043SE)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4754880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F5F5F"/>
                </a:solidFill>
                <a:latin typeface="Arial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188720"/>
            <a:ext cx="2048256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325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65BD"/>
                </a:solidFill>
                <a:latin typeface="Arial"/>
              </a:rPr>
              <a:t>Fixed 0.70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" y="1755648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00000"/>
                </a:solidFill>
                <a:latin typeface="Arial"/>
              </a:rPr>
              <a:t>evaluate the estimate at one anchor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2606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1">
                <a:solidFill>
                  <a:srgbClr val="5F5F5F"/>
                </a:solidFill>
                <a:latin typeface="Arial"/>
              </a:rPr>
              <a:t>no search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9464" y="1188720"/>
            <a:ext cx="2048256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1325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65BD"/>
                </a:solidFill>
                <a:latin typeface="Arial"/>
              </a:rPr>
              <a:t>Greedy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1755648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00000"/>
                </a:solidFill>
                <a:latin typeface="Arial"/>
              </a:rPr>
              <a:t>maximize the estimate everywhere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606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1">
                <a:solidFill>
                  <a:srgbClr val="5F5F5F"/>
                </a:solidFill>
                <a:latin typeface="Arial"/>
              </a:rPr>
              <a:t>trusts the model fully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188720"/>
            <a:ext cx="2048256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1325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65BD"/>
                </a:solidFill>
                <a:latin typeface="Arial"/>
              </a:rPr>
              <a:t>CQL (offline RL)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1755648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00000"/>
                </a:solidFill>
                <a:latin typeface="Arial"/>
              </a:rPr>
              <a:t>maximize with a conservatism penalty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606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1">
                <a:solidFill>
                  <a:srgbClr val="5F5F5F"/>
                </a:solidFill>
                <a:latin typeface="Arial"/>
              </a:rPr>
              <a:t>distrusts off-support actions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0296" y="1188720"/>
            <a:ext cx="2048256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0024" y="1325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65BD"/>
                </a:solidFill>
                <a:latin typeface="Arial"/>
              </a:rPr>
              <a:t>PPO (simulator)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0024" y="1755648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00000"/>
                </a:solidFill>
                <a:latin typeface="Arial"/>
              </a:rPr>
              <a:t>optimize inside a learned environment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0024" y="2606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1">
                <a:solidFill>
                  <a:srgbClr val="5F5F5F"/>
                </a:solidFill>
                <a:latin typeface="Arial"/>
              </a:rPr>
              <a:t>simulator-only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342900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Arial"/>
              </a:rPr>
              <a:t>Same objective, increasing skepticism about P(accept | s, a) where data are thin.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9319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F5F5F"/>
                </a:solidFill>
                <a:latin typeface="Arial"/>
              </a:rPr>
              <a:t>Every reported number carries an evidence type: observed | model estimate | simulator-only.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u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237744"/>
            <a:ext cx="77724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292608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How: can a policy even be evaluated from the logs?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914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9A9A"/>
                </a:solidFill>
                <a:latin typeface="Arial"/>
              </a:rPr>
              <a:t>eBay Best Offer anchoring RL | Advanced Seminar (WIHN0043SE)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4754880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F5F5F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3749039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True logging propensities are unavailable, so off-policy evaluation is diagnostic, not causal.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Effective sample size (ESS) measures how much logged data actually supports a target policy.</a:t>
            </a:r>
          </a:p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000000"/>
                </a:solidFill>
                <a:latin typeface="Arial"/>
              </a:rPr>
              <a:t>Greedy keeps 0.8% effective support: its attractive estimate is unverifiable extrapolation.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343400" y="1051560"/>
          <a:ext cx="457200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u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237744"/>
            <a:ext cx="77724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47914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9A9A"/>
                </a:solidFill>
                <a:latin typeface="Arial"/>
              </a:rPr>
              <a:t>eBay Best Offer anchoring RL | Advanced Seminar (WIHN0043SE)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4754880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F5F5F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0065BD"/>
                </a:solidFill>
                <a:latin typeface="Arial"/>
              </a:rPr>
              <a:t>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Results, honest claims, and what remains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5F5F"/>
                </a:solidFill>
                <a:latin typeface="Arial"/>
              </a:rPr>
              <a:t>Why | How | What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u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237744"/>
            <a:ext cx="77724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292608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What: evidence triage, not a leaderboard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914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9A9A"/>
                </a:solidFill>
                <a:latin typeface="Arial"/>
              </a:rPr>
              <a:t>eBay Best Offer anchoring RL | Advanced Seminar (WIHN0043SE)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4754880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F5F5F"/>
                </a:solidFill>
                <a:latin typeface="Arial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1143000"/>
          <a:ext cx="837590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  <a:gridCol w="1371600"/>
                <a:gridCol w="1700784"/>
                <a:gridCol w="1188720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Evidence type</a:t>
                      </a:r>
                    </a:p>
                  </a:txBody>
                  <a:tcPr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E[savings]</a:t>
                      </a:r>
                    </a:p>
                  </a:txBody>
                  <a:tcPr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Deal / accept rate</a:t>
                      </a:r>
                    </a:p>
                  </a:txBody>
                  <a:tcPr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Mean anchor</a:t>
                      </a:r>
                    </a:p>
                  </a:txBody>
                  <a:tcPr>
                    <a:solidFill>
                      <a:srgbClr val="0065B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</a:rPr>
                        <a:t>Behavioral (historical)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</a:rPr>
                        <a:t>observed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Arial"/>
                        </a:rPr>
                        <a:t>0.050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Arial"/>
                        </a:rPr>
                        <a:t>0.128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Arial"/>
                        </a:rPr>
                        <a:t>0.665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</a:rPr>
                        <a:t>Fixed anchor 0.70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</a:rPr>
                        <a:t>model estimate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Arial"/>
                        </a:rPr>
                        <a:t>0.027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Arial"/>
                        </a:rPr>
                        <a:t>0.089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Arial"/>
                        </a:rPr>
                        <a:t>0.700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</a:rPr>
                        <a:t>CQL offline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</a:rPr>
                        <a:t>model estimate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Arial"/>
                        </a:rPr>
                        <a:t>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Arial"/>
                        </a:rPr>
                        <a:t>0.087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Arial"/>
                        </a:rPr>
                        <a:t>0.769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</a:rPr>
                        <a:t>PPO faithful simulator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</a:rPr>
                        <a:t>simulator-only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Arial"/>
                        </a:rPr>
                        <a:t>0.184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Arial"/>
                        </a:rPr>
                        <a:t>0.270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latin typeface="Arial"/>
                        </a:rPr>
                        <a:t>0.318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4048" y="370332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00000"/>
                </a:solidFill>
                <a:latin typeface="Arial"/>
              </a:rPr>
              <a:t>Rows carry different evidence types: the PPO row is a learned-simulator stress test and is not comparable to the observed behavioral row.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F5F5F"/>
                </a:solidFill>
                <a:latin typeface="Arial"/>
              </a:rPr>
              <a:t>Under the same model surface, conservative CQL does not beat logged behavior - a negative result that motivates the diagnostics.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u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237744"/>
            <a:ext cx="77724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292608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What: claims this evidence supports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914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9A9A"/>
                </a:solidFill>
                <a:latin typeface="Arial"/>
              </a:rPr>
              <a:t>eBay Best Offer anchoring RL | Advanced Seminar (WIHN0043SE)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4754880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F5F5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1430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065BD"/>
                </a:solidFill>
                <a:latin typeface="Arial"/>
              </a:rPr>
              <a:t>Supported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143000"/>
            <a:ext cx="6766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Greedy supervised maximization leaves the data's support; CQL stays evaluable (ESS 36% vs 0.8%).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920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5F5F5F"/>
                </a:solidFill>
                <a:latin typeface="Arial"/>
              </a:rPr>
              <a:t>Cautious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1920240"/>
            <a:ext cx="6766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PPO's high simulator savings are a stress test of the learned environment, not marketplace performance.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6974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00000"/>
                </a:solidFill>
                <a:latin typeface="Arial"/>
              </a:rPr>
              <a:t>Not claimed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97480"/>
            <a:ext cx="6766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Live marketplace lift, causal anchoring effects, or an optimal offer policy.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365760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0065BD"/>
                </a:solidFill>
                <a:latin typeface="Arial"/>
              </a:rPr>
              <a:t>Future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65760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000000"/>
                </a:solidFill>
                <a:latin typeface="Arial"/>
              </a:rPr>
              <a:t>Sequential counteroffers (about 40% of threads contain a second move), richer item features, temporal and leaf-holdout robustness tables.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u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237744"/>
            <a:ext cx="77724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292608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9145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9A9A9A"/>
                </a:solidFill>
                <a:latin typeface="Arial"/>
              </a:rPr>
              <a:t>eBay Best Offer anchoring RL | Advanced Seminar (WIHN0043SE)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4754880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F5F5F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7498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Arial"/>
              </a:rPr>
              <a:t>The lowest offer is not the best decision - and the highest estimate is not the best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7498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Contribution: a reproducible, support-aware pipeline that makes extrapolation measurable before a recommendation is trusted.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F5F5F"/>
                </a:solidFill>
                <a:latin typeface="Arial"/>
              </a:rPr>
              <a:t>Next: multi-turn counteroffers with explicit uncertainty - the rejection branch stops being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5F5F"/>
                </a:solidFill>
                <a:latin typeface="Arial"/>
              </a:rPr>
              <a:t>Thank you - questions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
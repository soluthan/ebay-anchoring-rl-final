
<file path=[Content_Types].xml><?xml version="1.0" encoding="utf-8"?>
<Types xmlns="http://schemas.openxmlformats.org/package/2006/content-types">
  <Default Extension="xml" ContentType="application/vnd.openxmlformats-package.core-properties+xml"/>
  <Default Extension="wmf" ContentType="image/x-wmf"/>
  <Default Extension="jpeg" ContentType="image/jpeg"/>
  <Default Extension="emf" ContentType="image/x-em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Masters/slideMaster4.xml" ContentType="application/vnd.openxmlformats-officedocument.presentationml.slideMaster+xml"/>
  <Override PartName="/ppt/slideMasters/theme/theme5.xml" ContentType="application/vnd.openxmlformats-officedocument.theme+xml"/>
  <Override PartName="/ppt/slideMasters/slideMaster5.xml" ContentType="application/vnd.openxmlformats-officedocument.presentationml.slideMaster+xml"/>
  <Override PartName="/ppt/slideMasters/theme/theme6.xml" ContentType="application/vnd.openxmlformats-officedocument.theme+xml"/>
  <Override PartName="/ppt/slideMasters/slideMaster6.xml" ContentType="application/vnd.openxmlformats-officedocument.presentationml.slideMaster+xml"/>
  <Override PartName="/ppt/slideMasters/theme/theme7.xml" ContentType="application/vnd.openxmlformats-officedocument.theme+xml"/>
  <Override PartName="/ppt/slideMasters/slideMaster7.xml" ContentType="application/vnd.openxmlformats-officedocument.presentationml.slideMaster+xml"/>
  <Override PartName="/ppt/slideMasters/theme/theme8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9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f0b94b910143ac" /><Relationship Type="http://schemas.openxmlformats.org/officeDocument/2006/relationships/extended-properties" Target="/docProps/app.xml" Id="R5b0c8eafdda145cc" /><Relationship Type="http://schemas.openxmlformats.org/officeDocument/2006/relationships/officeDocument" Target="/ppt/presentation.xml" Id="Rd831ecd54aeb46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42406fd4de47c0"/>
    <p:sldMasterId xmlns:r="http://schemas.openxmlformats.org/officeDocument/2006/relationships" id="2147483651" r:id="R45ae95d033094c4b"/>
    <p:sldMasterId xmlns:r="http://schemas.openxmlformats.org/officeDocument/2006/relationships" id="2147483653" r:id="Rc12f72195dce453c"/>
    <p:sldMasterId xmlns:r="http://schemas.openxmlformats.org/officeDocument/2006/relationships" id="2147483656" r:id="R87ffe2e50f37443e"/>
    <p:sldMasterId xmlns:r="http://schemas.openxmlformats.org/officeDocument/2006/relationships" id="2147483659" r:id="Rbf5ae044a2aa400b"/>
    <p:sldMasterId xmlns:r="http://schemas.openxmlformats.org/officeDocument/2006/relationships" id="2147483678" r:id="R56add585c64344fa"/>
    <p:sldMasterId xmlns:r="http://schemas.openxmlformats.org/officeDocument/2006/relationships" id="2147483680" r:id="Raedad35e984e4a2b"/>
  </p:sldMasterIdLst>
  <p:notesMasterIdLst>
    <p:notesMasterId xmlns:r="http://schemas.openxmlformats.org/officeDocument/2006/relationships" r:id="R5fb2435cb3b845e8"/>
  </p:notesMasterIdLst>
  <p:sldIdLst>
    <p:sldId xmlns:r="http://schemas.openxmlformats.org/officeDocument/2006/relationships" id="256" r:id="Rec43373aa6724f53"/>
    <p:sldId xmlns:r="http://schemas.openxmlformats.org/officeDocument/2006/relationships" id="257" r:id="R7b685f26b90a48f9"/>
    <p:sldId xmlns:r="http://schemas.openxmlformats.org/officeDocument/2006/relationships" id="258" r:id="Rf0c8abfdd55f4208"/>
    <p:sldId xmlns:r="http://schemas.openxmlformats.org/officeDocument/2006/relationships" id="259" r:id="Rf20a71498ae4476d"/>
    <p:sldId xmlns:r="http://schemas.openxmlformats.org/officeDocument/2006/relationships" id="260" r:id="R58447623be554826"/>
    <p:sldId xmlns:r="http://schemas.openxmlformats.org/officeDocument/2006/relationships" id="261" r:id="Rb4d31ab110704ea8"/>
    <p:sldId xmlns:r="http://schemas.openxmlformats.org/officeDocument/2006/relationships" id="262" r:id="Rf1e3de2d96ab41a3"/>
    <p:sldId xmlns:r="http://schemas.openxmlformats.org/officeDocument/2006/relationships" id="263" r:id="R9b402bcca22444eb"/>
    <p:sldId xmlns:r="http://schemas.openxmlformats.org/officeDocument/2006/relationships" id="264" r:id="Re7dfec8dc72b4970"/>
    <p:sldId xmlns:r="http://schemas.openxmlformats.org/officeDocument/2006/relationships" id="265" r:id="Rb3d9ac4722d54613"/>
    <p:sldId xmlns:r="http://schemas.openxmlformats.org/officeDocument/2006/relationships" id="266" r:id="R49a92f5c024c4863"/>
    <p:sldId xmlns:r="http://schemas.openxmlformats.org/officeDocument/2006/relationships" id="267" r:id="R9f123e46f5f6458d"/>
    <p:sldId xmlns:r="http://schemas.openxmlformats.org/officeDocument/2006/relationships" id="268" r:id="R0e25531f839444dc"/>
  </p:sldIdLst>
  <p:sldSz cx="9144000" cy="51435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b240cd9aff4a64" /><Relationship Type="http://schemas.openxmlformats.org/officeDocument/2006/relationships/slideMaster" Target="/ppt/slideMasters/slideMaster1.xml" Id="Rac42406fd4de47c0" /><Relationship Type="http://schemas.openxmlformats.org/officeDocument/2006/relationships/slideMaster" Target="/ppt/slideMasters/slideMaster2.xml" Id="R45ae95d033094c4b" /><Relationship Type="http://schemas.openxmlformats.org/officeDocument/2006/relationships/slideMaster" Target="/ppt/slideMasters/slideMaster3.xml" Id="Rc12f72195dce453c" /><Relationship Type="http://schemas.openxmlformats.org/officeDocument/2006/relationships/slideMaster" Target="/ppt/slideMasters/slideMaster4.xml" Id="R87ffe2e50f37443e" /><Relationship Type="http://schemas.openxmlformats.org/officeDocument/2006/relationships/slideMaster" Target="/ppt/slideMasters/slideMaster5.xml" Id="Rbf5ae044a2aa400b" /><Relationship Type="http://schemas.openxmlformats.org/officeDocument/2006/relationships/slideMaster" Target="/ppt/slideMasters/slideMaster6.xml" Id="R56add585c64344fa" /><Relationship Type="http://schemas.openxmlformats.org/officeDocument/2006/relationships/slideMaster" Target="/ppt/slideMasters/slideMaster7.xml" Id="Raedad35e984e4a2b" /><Relationship Type="http://schemas.openxmlformats.org/officeDocument/2006/relationships/notesMaster" Target="/ppt/notesMasters/notesMaster1.xml" Id="R5fb2435cb3b845e8" /><Relationship Type="http://schemas.openxmlformats.org/officeDocument/2006/relationships/presProps" Target="/ppt/presProps.xml" Id="R287137fe48544db9" /><Relationship Type="http://schemas.openxmlformats.org/officeDocument/2006/relationships/tableStyles" Target="/ppt/tableStyles.xml" Id="Rec8c506170b14305" /><Relationship Type="http://schemas.openxmlformats.org/officeDocument/2006/relationships/slide" Target="/ppt/slides/slide1.xml" Id="Rec43373aa6724f53" /><Relationship Type="http://schemas.openxmlformats.org/officeDocument/2006/relationships/slide" Target="/ppt/slides/slide2.xml" Id="R7b685f26b90a48f9" /><Relationship Type="http://schemas.openxmlformats.org/officeDocument/2006/relationships/slide" Target="/ppt/slides/slide3.xml" Id="Rf0c8abfdd55f4208" /><Relationship Type="http://schemas.openxmlformats.org/officeDocument/2006/relationships/slide" Target="/ppt/slides/slide4.xml" Id="Rf20a71498ae4476d" /><Relationship Type="http://schemas.openxmlformats.org/officeDocument/2006/relationships/slide" Target="/ppt/slides/slide5.xml" Id="R58447623be554826" /><Relationship Type="http://schemas.openxmlformats.org/officeDocument/2006/relationships/slide" Target="/ppt/slides/slide6.xml" Id="Rb4d31ab110704ea8" /><Relationship Type="http://schemas.openxmlformats.org/officeDocument/2006/relationships/slide" Target="/ppt/slides/slide7.xml" Id="Rf1e3de2d96ab41a3" /><Relationship Type="http://schemas.openxmlformats.org/officeDocument/2006/relationships/slide" Target="/ppt/slides/slide8.xml" Id="R9b402bcca22444eb" /><Relationship Type="http://schemas.openxmlformats.org/officeDocument/2006/relationships/slide" Target="/ppt/slides/slide9.xml" Id="Re7dfec8dc72b4970" /><Relationship Type="http://schemas.openxmlformats.org/officeDocument/2006/relationships/slide" Target="/ppt/slides/slide10.xml" Id="Rb3d9ac4722d54613" /><Relationship Type="http://schemas.openxmlformats.org/officeDocument/2006/relationships/slide" Target="/ppt/slides/slide11.xml" Id="R49a92f5c024c4863" /><Relationship Type="http://schemas.openxmlformats.org/officeDocument/2006/relationships/slide" Target="/ppt/slides/slide12.xml" Id="R9f123e46f5f6458d" /><Relationship Type="http://schemas.openxmlformats.org/officeDocument/2006/relationships/slide" Target="/ppt/slides/slide13.xml" Id="R0e25531f839444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9.xml" Id="R01bb1d289dde48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9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001d2c5d5f4765" /><Relationship Type="http://schemas.openxmlformats.org/officeDocument/2006/relationships/notesMaster" Target="/ppt/notesMasters/notesMaster1.xml" Id="R79e6b4155d564f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7ff0963d60462b" /><Relationship Type="http://schemas.openxmlformats.org/officeDocument/2006/relationships/notesMaster" Target="/ppt/notesMasters/notesMaster1.xml" Id="R3a9695e8867e4b2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84a989720d499b" /><Relationship Type="http://schemas.openxmlformats.org/officeDocument/2006/relationships/notesMaster" Target="/ppt/notesMasters/notesMaster1.xml" Id="R166357a1201b4e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55dea4daea43bd" /><Relationship Type="http://schemas.openxmlformats.org/officeDocument/2006/relationships/notesMaster" Target="/ppt/notesMasters/notesMaster1.xml" Id="Rb4d0d01295c34d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b8168ec2d54401f" /><Relationship Type="http://schemas.openxmlformats.org/officeDocument/2006/relationships/notesMaster" Target="/ppt/notesMasters/notesMaster1.xml" Id="R1a932c49c55348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c6371d73414401" /><Relationship Type="http://schemas.openxmlformats.org/officeDocument/2006/relationships/notesMaster" Target="/ppt/notesMasters/notesMaster1.xml" Id="R5baf792951a44a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c686fa86b548ce" /><Relationship Type="http://schemas.openxmlformats.org/officeDocument/2006/relationships/notesMaster" Target="/ppt/notesMasters/notesMaster1.xml" Id="R7a17ebd6577f4a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362ee83d394a4f" /><Relationship Type="http://schemas.openxmlformats.org/officeDocument/2006/relationships/notesMaster" Target="/ppt/notesMasters/notesMaster1.xml" Id="R7b8a7db4935f42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1a1a1cb5454d01" /><Relationship Type="http://schemas.openxmlformats.org/officeDocument/2006/relationships/notesMaster" Target="/ppt/notesMasters/notesMaster1.xml" Id="R7a1afa5ed9ef4a6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74d05e729fa4edc" /><Relationship Type="http://schemas.openxmlformats.org/officeDocument/2006/relationships/notesMaster" Target="/ppt/notesMasters/notesMaster1.xml" Id="R8a96614b85ca43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cb8a18fe69b41f8" /><Relationship Type="http://schemas.openxmlformats.org/officeDocument/2006/relationships/notesMaster" Target="/ppt/notesMasters/notesMaster1.xml" Id="R39d96269ed474d6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0f6cd33232e4e9f" /><Relationship Type="http://schemas.openxmlformats.org/officeDocument/2006/relationships/notesMaster" Target="/ppt/notesMasters/notesMaster1.xml" Id="R41b37b448e064f9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8ac63b2295d4066" /><Relationship Type="http://schemas.openxmlformats.org/officeDocument/2006/relationships/notesMaster" Target="/ppt/notesMasters/notesMaster1.xml" Id="R5fd6b92a840442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frame: this is buyer-side decision support, not a production-lift claim.</a:t>
            </a:r>
          </a:p>
          <a:p xmlns:a="http://schemas.openxmlformats.org/drawingml/2006/main">
            <a:r>
              <a:t>The deck follows Why, How, What: motivation, method, and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EUR 100 example to make the anchor ratio concrete.</a:t>
            </a:r>
          </a:p>
          <a:p xmlns:a="http://schemas.openxmlformats.org/drawingml/2006/main">
            <a:r>
              <a:t>The chart is illustrative; do not present it as an empirical curve.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closes the literature requirement and protects against causal overclaiming.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d616e6d2614eb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52bf7820f642cf" /><Relationship Type="http://schemas.openxmlformats.org/officeDocument/2006/relationships/image" Target="/ppt/media/image2.jpeg" Id="Rc1216209ccda49f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ce0fca1a069412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c7606b7e3131408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68a4a1688c9a46f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f6e30fe4268547d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4.xml" Id="R7ce13a297c08490d" /><Relationship Type="http://schemas.openxmlformats.org/officeDocument/2006/relationships/image" Target="/ppt/media/image2.jpeg" Id="R06360ed232734d7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4541cba5fa04488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a1576b47f50a4e1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f45a4e0690a8483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a75d72b94dd34162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09d17066812345fb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40ee6bb8c4864d4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5e2d566d7f6344c2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6b5ce06ea2634c00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dafe159bbe6140eb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ec737d36718a4790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d35ba97b05ce4b90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a0b64c3a915142e0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d2292d4e985b4c21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05961f8f8cf741b4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318e8d89ca6f4e91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5e205423ab364a33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9ca894b7f65c48e2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5.xml" Id="R998c1ab1c38143a2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6.xml" Id="Rc29f5fcf60a34b06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7.xml" Id="Rfe103f60d5ed47e7" /></Relationships>
</file>

<file path=ppt/slideLayouts/slideLayout1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DBBB0606-97D3-40D3-BD12-33674A1086D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83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4305F04F-2838-4DDD-BEFE-0D7749F8DF2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C19FE86D-B35C-42B8-A22F-87192944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22F736D6-4E81-451F-A3B0-04762A1E9F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216209ccda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710DE8E7-5AF7-4421-91A3-8985528CFF8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83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B465E5B6-C640-4A4F-8422-1C0AF014F960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A86FBD57-EC94-4409-A51A-848C195D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C1079152-7445-405C-BE21-A134B9E02B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4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93079879-2E74-4E4B-A431-B7D37086AFC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D70DF861-CF06-4139-8B1F-77CCA7DDF426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4C9AB89C-0E40-47A2-ABB7-FBFC103E4E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8DB0FF6B-6283-438F-AA7A-9E7531BA028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67105889-7AA5-4765-B822-32012840BC43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D15F34A3-480A-4113-B6F0-596D88D86A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2" name="Textfeld 10">
            <a:extLst xmlns:a="http://schemas.openxmlformats.org/drawingml/2006/main">
              <a:ext uri="{FF2B5EF4-FFF2-40B4-BE49-F238E27FC236}">
                <a16:creationId xmlns:a16="http://schemas.microsoft.com/office/drawing/2014/main" id="{154976A3-D458-EBF9-B242-F3440F11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06" y="321468"/>
            <a:ext cx="7160425" cy="34624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Chair of High-Power Converter Systems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TUM School of Engineering and Design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bg1"/>
                </a:solidFill>
                <a:latin typeface="+mn-lt"/>
                <a:ea typeface="+mn-lt"/>
                <a:cs typeface="+mn-lt"/>
              </a:rPr>
              <a:t>Technical University of Munich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938522E0-6491-4311-93D5-FC0CE6FF067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90100EA0-5384-474E-A1AD-9C9A3544B844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rgbClr val="000000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0A355CFD-0952-41F7-8C0A-992C680D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B9D02BE0-7532-49EF-A3D8-42ED33C06780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1_Start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360ed232734d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2EBF8150-C58E-402C-A650-9E5527742FC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8BD0A7F2-705F-444A-90B7-D151D9DB2AA4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>
                <a:solidFill>
                  <a:srgbClr val="000000"/>
                </a:solidFill>
              </a:defRPr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2DD92840-E305-4145-9673-4C2B2D07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C0FD85BD-E007-4BAF-9629-98AAB7283221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BB2F6E59-5067-40B9-BFB7-C1AE776F0FB8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319088" y="1484040"/>
            <a:ext cx="8508999" cy="9555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50000"/>
              </a:lnSpc>
              <a:buNone/>
              <a:defRPr sz="1400"/>
            </a:lvl1pPr>
            <a:lvl2pPr>
              <a:buNone/>
              <a:defRPr/>
            </a:lvl2pPr>
          </a:lstStyle>
          <a:p xmlns:a="http://schemas.openxmlformats.org/drawingml/2006/main">
            <a:pPr>
              <a:buNone/>
            </a:pPr>
            <a:r>
              <a:t>Referent</a:t>
            </a:r>
            <a:br/>
            <a:r>
              <a:t>Ort, Datum (Schreibweise: 01. Oktober 2022)</a:t>
            </a:r>
          </a:p>
        </p:txBody>
      </p:sp>
      <p:sp>
        <p:nvSpPr>
          <p:cNvPr id="14" name="Rechteck 13">
            <a:extLst xmlns:a="http://schemas.openxmlformats.org/drawingml/2006/main">
              <a:ext uri="{FF2B5EF4-FFF2-40B4-BE49-F238E27FC236}">
                <a16:creationId xmlns:a16="http://schemas.microsoft.com/office/drawing/2014/main" id="{598DBEE1-A1E9-40BA-BA1B-F66040FD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7635" y="4806203"/>
            <a:ext cx="575236" cy="26894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" name="Foliennummernplatzhalter 7">
            <a:extLst xmlns:a="http://schemas.openxmlformats.org/drawingml/2006/main">
              <a:ext uri="{FF2B5EF4-FFF2-40B4-BE49-F238E27FC236}">
                <a16:creationId xmlns:a16="http://schemas.microsoft.com/office/drawing/2014/main" id="{9176F313-6064-4571-98D9-EC88830BBF8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9" name="Titel 1">
            <a:extLst xmlns:a="http://schemas.openxmlformats.org/drawingml/2006/main">
              <a:ext uri="{FF2B5EF4-FFF2-40B4-BE49-F238E27FC236}">
                <a16:creationId xmlns:a16="http://schemas.microsoft.com/office/drawing/2014/main" id="{05AABF3B-2112-4303-BACC-C389E81E738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37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der Präsentation durch Klicken bearbeiten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6185A26C-ABDA-4581-A06B-AA1DD0CE8AF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 marL="0" indent="0"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C0BF8C79-AF5A-4C59-A7F2-726A4A91AFAF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 lIns="0" rIns="0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F6A44818-05C3-4E95-852B-514408950B0E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9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740E7229-04EE-4764-BC7E-F87916F4FA64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1_Inhal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2205BFAB-FE18-40DB-97E3-79A43A59BEA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 marL="0" indent="0"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0800EA14-9E80-4403-BF38-69C87F988EC6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 lIns="0" rIns="0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B0B2516D-8007-4F98-ADE2-F4A699A28A68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8476312C-61A5-4367-850F-3BC4D9F175C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785785"/>
            <a:ext cx="8508999" cy="290051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6B8A33B5-EA39-4379-BAFD-403D4538B3EA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25A5C26E-D858-4267-8329-8C17D7A31160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7652F0CE-E7FE-44C1-8372-D5070340FA63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5"/>
            <a:ext cx="8508999" cy="50530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20912513-725A-7B3D-7236-D9DF537BD47D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3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AB72AEB2-19D1-40A1-AB45-79C4F2588B13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785785"/>
            <a:ext cx="8508999" cy="290051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9BC1DC17-E589-48BA-BC32-E2418DB6625A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7CDF779B-E509-4D86-B6D3-C31E99A5001E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606792FA-DD00-4229-8DC9-B412C6BFA454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5"/>
            <a:ext cx="8508999" cy="50530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2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703B62ED-38A3-44F2-BBC2-4E271E440056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506687"/>
            <a:ext cx="8508999" cy="3179614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880B1848-4CE3-4210-BA93-17FD1B5F025D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56434DA2-E31D-400E-9397-F12672CF876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6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2EB550DB-B8CE-4283-B4F9-A073CC221255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1161" y="936839"/>
            <a:ext cx="8508999" cy="497688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1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FD02C337-3501-4941-859C-F824844999DC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222525"/>
            <a:ext cx="8508999" cy="346377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C138E9C3-60EF-4B94-9F8C-BA4266369FA5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B0C82233-1DAB-4F11-BF18-EE69A5855B5B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293133E1-5289-7056-E483-775294333E78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4_Inhalt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A9E757B7-83C8-416E-9FC0-ACF34C35D672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319090" y="1222525"/>
            <a:ext cx="8508999" cy="346377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CA05C56C-BF0C-49C9-BA8E-C5F64A4526F3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07A87AA3-49A1-491C-B7DC-D860DF3D80C4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Titel 1">
            <a:extLst xmlns:a="http://schemas.openxmlformats.org/drawingml/2006/main">
              <a:ext uri="{FF2B5EF4-FFF2-40B4-BE49-F238E27FC236}">
                <a16:creationId xmlns:a16="http://schemas.microsoft.com/office/drawing/2014/main" id="{CBB05561-73C4-4A74-972B-036FE30803A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70F5258B-C96A-4339-8F6B-B6B098C16EF3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311162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CD038F35-9282-401B-905E-E6193277ED8A}"/>
              </a:ext>
            </a:extLst>
          </p:cNvPr>
          <p:cNvSpPr>
            <a:spLocks xmlns:a="http://schemas.openxmlformats.org/drawingml/2006/main" noGrp="1"/>
          </p:cNvSpPr>
          <p:nvPr>
            <p:ph idx="15" hasCustomPrompt="1"/>
          </p:nvPr>
        </p:nvSpPr>
        <p:spPr>
          <a:xfrm xmlns:a="http://schemas.openxmlformats.org/drawingml/2006/main">
            <a:off x="4647179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1384436B-8DD7-468F-9308-A11F92976070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4CAE1E4F-A6CB-45AF-AD79-D651131B72A5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7" name="Titel 1">
            <a:extLst xmlns:a="http://schemas.openxmlformats.org/drawingml/2006/main"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E9EB89DB-0FCB-44DF-1F96-9A2EDDD7D265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227C99F9-78D3-441F-AEA4-87748B206DB9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311162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A52CDB22-8DDB-4186-AD79-88A94D661C75}"/>
              </a:ext>
            </a:extLst>
          </p:cNvPr>
          <p:cNvSpPr>
            <a:spLocks xmlns:a="http://schemas.openxmlformats.org/drawingml/2006/main" noGrp="1"/>
          </p:cNvSpPr>
          <p:nvPr>
            <p:ph idx="15" hasCustomPrompt="1"/>
          </p:nvPr>
        </p:nvSpPr>
        <p:spPr>
          <a:xfrm xmlns:a="http://schemas.openxmlformats.org/drawingml/2006/main">
            <a:off x="4647179" y="1222524"/>
            <a:ext cx="4180910" cy="34751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  <a:lvl2pPr>
              <a:lnSpc>
                <a:spcPct val="114000"/>
              </a:lnSpc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992F7371-C5D2-440C-A40D-802BAD8515C9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7446E47E-8ACB-4DD9-8A9A-D7F362DDB395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7" name="Titel 1">
            <a:extLst xmlns:a="http://schemas.openxmlformats.org/drawingml/2006/main">
              <a:ext uri="{FF2B5EF4-FFF2-40B4-BE49-F238E27FC236}">
                <a16:creationId xmlns:a16="http://schemas.microsoft.com/office/drawing/2014/main" id="{C820FC66-B1DF-47A9-8103-CDCC8883639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Zwei Inhalte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E3A4DA55-55D5-4D2D-AE38-A263D1F6BF09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EC35F762-93D9-40B4-BA52-E212320BB41F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1884C8DD-899C-498D-ADFB-027AC9D8BEAC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B17ECBDD-D9A0-4DC2-A8F2-CCE46852DE3C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88333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9A3A6E6E-CA05-4F6C-87E1-90229BAD54D6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38677" y="1771077"/>
            <a:ext cx="4180392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9AEF4677-339F-8CA2-B0ED-473D9EA817FC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1_Zwei Inhalte +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59505522-EAD6-47B8-AEF8-5B1EAE71CDD9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EFF41A7D-084A-4618-8A7E-4A2D9680383F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F87F39BD-D0D0-4875-B3FA-1A48DA0BC453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7C1A8CDE-A72A-425E-A42A-7AD1EDDFEEF6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88333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C450B946-72E5-4B96-B5A1-D03F717E9120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38677" y="1771077"/>
            <a:ext cx="4180392" cy="2924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82BEFDB1-C0BE-4875-BD7E-86FDD31F7CD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Zwei Inhalte + Text (Hintergrund)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hteck 8">
            <a:extLst xmlns:a="http://schemas.openxmlformats.org/drawingml/2006/main">
              <a:ext uri="{FF2B5EF4-FFF2-40B4-BE49-F238E27FC236}">
                <a16:creationId xmlns:a16="http://schemas.microsoft.com/office/drawing/2014/main" id="{E4230E61-2D3A-4A93-98EA-384951F0B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52650"/>
            <a:ext cx="914400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C0338CCD-EF01-4121-BC3D-48098F7CF355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C320FD19-0CB5-4AE2-AF60-0DC10E291828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10843598-2178-4EB2-8716-97EC323D0146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97858" cy="29342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A253C37A-CC43-4335-91D0-2AB8CD3784E3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48200" y="1771076"/>
            <a:ext cx="4180392" cy="2915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0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E7004A25-3EBF-48D6-9779-620444C00183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B396E02D-F2E0-1B1F-A258-256C442E5359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 userDrawn="1">
  <p:cSld name="1_Zwei Inhalte + Text (Hintergrund)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hteck 8">
            <a:extLst xmlns:a="http://schemas.openxmlformats.org/drawingml/2006/main">
              <a:ext uri="{FF2B5EF4-FFF2-40B4-BE49-F238E27FC236}">
                <a16:creationId xmlns:a16="http://schemas.microsoft.com/office/drawing/2014/main" id="{6E300778-931C-42F1-AE13-435F4D22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71076"/>
            <a:ext cx="9144000" cy="337242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lumMod val="95000"/>
            </a:schemeClr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algn="r">
              <a:buNone/>
            </a:pPr>
          </a:p>
        </p:txBody>
      </p:sp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39A5D65B-9D7A-4450-83EB-8A66CE1FB076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9B353CA0-1B1A-4DF0-A9A0-FF8CF00F7AA1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8" name="Inhaltsplatzhalter 9">
            <a:extLst xmlns:a="http://schemas.openxmlformats.org/drawingml/2006/main">
              <a:ext uri="{FF2B5EF4-FFF2-40B4-BE49-F238E27FC236}">
                <a16:creationId xmlns:a16="http://schemas.microsoft.com/office/drawing/2014/main" id="{360ED430-DB59-4C3D-8BDC-6D70A70D707A}"/>
              </a:ext>
            </a:extLst>
          </p:cNvPr>
          <p:cNvSpPr>
            <a:spLocks xmlns:a="http://schemas.openxmlformats.org/drawingml/2006/main" noGrp="1"/>
          </p:cNvSpPr>
          <p:nvPr>
            <p:ph idx="18"/>
          </p:nvPr>
        </p:nvSpPr>
        <p:spPr>
          <a:xfrm xmlns:a="http://schemas.openxmlformats.org/drawingml/2006/main">
            <a:off x="316992" y="1771076"/>
            <a:ext cx="4197858" cy="293427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rIns="0"/>
          <a:lstStyle xmlns:a="http://schemas.openxmlformats.org/drawingml/2006/main">
            <a:lvl1pPr>
              <a:buNone/>
              <a:defRPr sz="1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>
              <a:buNone/>
              <a:defRPr sz="1400"/>
            </a:lvl2pPr>
            <a:lvl3pPr>
              <a:buNone/>
              <a:defRPr sz="1400"/>
            </a:lvl3pPr>
          </a:lstStyle>
          <a:p xmlns:a="http://schemas.openxmlformats.org/drawingml/2006/main">
            <a:pPr>
              <a:buNone/>
            </a:pPr>
            <a:r>
              <a:t>Textmasterformate durch Klicken bearbeiten</a:t>
            </a:r>
          </a:p>
          <a:p xmlns:a="http://schemas.openxmlformats.org/drawingml/2006/main">
            <a:pPr>
              <a:buNone/>
            </a:pPr>
            <a:r>
              <a:t>Zweite Ebene</a:t>
            </a:r>
          </a:p>
          <a:p xmlns:a="http://schemas.openxmlformats.org/drawingml/2006/main">
            <a:pPr>
              <a:buNone/>
            </a:pPr>
            <a:r>
              <a:t>Dritte Ebene</a:t>
            </a:r>
          </a:p>
        </p:txBody>
      </p:sp>
      <p:sp>
        <p:nvSpPr>
          <p:cNvPr id="11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2C40D364-4ADA-4154-8CC9-093078288899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4648200" y="1771076"/>
            <a:ext cx="4180392" cy="2915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10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184DEEE3-AAF7-4C4B-B15F-024CD88E4C6C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5" name="Titel 1">
            <a:extLst xmlns:a="http://schemas.openxmlformats.org/drawingml/2006/main">
              <a:ext uri="{FF2B5EF4-FFF2-40B4-BE49-F238E27FC236}">
                <a16:creationId xmlns:a16="http://schemas.microsoft.com/office/drawing/2014/main" id="{D4303ED8-136B-40E2-A690-FE4668647E7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große Bil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B471378A-9C85-4656-9643-2D9A10569EA2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9B137A78-D692-47FF-B723-C5B38313EF1F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9" name="Bildplatzhalter 8">
            <a:extLst xmlns:a="http://schemas.openxmlformats.org/drawingml/2006/main">
              <a:ext uri="{FF2B5EF4-FFF2-40B4-BE49-F238E27FC236}">
                <a16:creationId xmlns:a16="http://schemas.microsoft.com/office/drawing/2014/main" id="{3B4A073F-C1E1-4EA2-9D20-D49C48310AC0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0" y="1771076"/>
            <a:ext cx="9144000" cy="33673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9A57D856-7FE4-4B1A-A2F9-A757730EFE41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5FE9A9B3-89BF-F3DC-FA80-DEDD36A47285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3.xml><?xml version="1.0" encoding="utf-8"?>
<p:sldLayout xmlns:p="http://schemas.openxmlformats.org/presentationml/2006/main" preserve="1" userDrawn="1">
  <p:cSld name="1_große Bil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liennummernplatzhalter 6">
            <a:extLst xmlns:a="http://schemas.openxmlformats.org/drawingml/2006/main">
              <a:ext uri="{FF2B5EF4-FFF2-40B4-BE49-F238E27FC236}">
                <a16:creationId xmlns:a16="http://schemas.microsoft.com/office/drawing/2014/main" id="{02E649A0-F2BE-4EEA-A204-0BAACBC12BB2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2" name="Fußzeilenplatzhalter 11">
            <a:extLst xmlns:a="http://schemas.openxmlformats.org/drawingml/2006/main">
              <a:ext uri="{FF2B5EF4-FFF2-40B4-BE49-F238E27FC236}">
                <a16:creationId xmlns:a16="http://schemas.microsoft.com/office/drawing/2014/main" id="{0410BF53-C592-423F-87B4-09FB61C1F8CD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9" name="Bildplatzhalter 8">
            <a:extLst xmlns:a="http://schemas.openxmlformats.org/drawingml/2006/main">
              <a:ext uri="{FF2B5EF4-FFF2-40B4-BE49-F238E27FC236}">
                <a16:creationId xmlns:a16="http://schemas.microsoft.com/office/drawing/2014/main" id="{60B4DC94-AA7D-4FA7-8FAB-2306C4594ED5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0" y="1771076"/>
            <a:ext cx="9144000" cy="33673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8" name="Textplatzhalter 7">
            <a:extLst xmlns:a="http://schemas.openxmlformats.org/drawingml/2006/main">
              <a:ext uri="{FF2B5EF4-FFF2-40B4-BE49-F238E27FC236}">
                <a16:creationId xmlns:a16="http://schemas.microsoft.com/office/drawing/2014/main" id="{27923844-D1F1-4EFC-8C0F-B05487E88828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19090" y="1222524"/>
            <a:ext cx="8508999" cy="495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>
            <a:pPr>
              <a:buNone/>
            </a:pPr>
            <a:r>
              <a:t>Inhalt durch Klicken bearbeiten</a:t>
            </a:r>
          </a:p>
        </p:txBody>
      </p:sp>
      <p:sp>
        <p:nvSpPr>
          <p:cNvPr id="10" name="Titel 1">
            <a:extLst xmlns:a="http://schemas.openxmlformats.org/drawingml/2006/main">
              <a:ext uri="{FF2B5EF4-FFF2-40B4-BE49-F238E27FC236}">
                <a16:creationId xmlns:a16="http://schemas.microsoft.com/office/drawing/2014/main" id="{B1164939-4755-42C9-9079-2B5AE284E2E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4.xml><?xml version="1.0" encoding="utf-8"?>
<p:sldLayout xmlns:p="http://schemas.openxmlformats.org/presentationml/2006/main" preserve="1" userDrawn="1">
  <p:cSld name="Bilder formatfüllen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9C6290BB-707D-47E8-A6D2-D07B80CF168D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0" y="1222524"/>
            <a:ext cx="9144000" cy="392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EB77F5F3-859C-4572-91C3-70EF6FEBD7FC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9">
            <a:extLst xmlns:a="http://schemas.openxmlformats.org/drawingml/2006/main">
              <a:ext uri="{FF2B5EF4-FFF2-40B4-BE49-F238E27FC236}">
                <a16:creationId xmlns:a16="http://schemas.microsoft.com/office/drawing/2014/main" id="{7E96845B-9F46-4F40-89A4-CA01E1B3EAC1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4" name="Titel 1">
            <a:extLst xmlns:a="http://schemas.openxmlformats.org/drawingml/2006/main"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  <p:sp>
        <p:nvSpPr>
          <p:cNvPr id="2" name="Text Placeholder 18">
            <a:extLst xmlns:a="http://schemas.openxmlformats.org/drawingml/2006/main">
              <a:ext uri="{FF2B5EF4-FFF2-40B4-BE49-F238E27FC236}">
                <a16:creationId xmlns:a16="http://schemas.microsoft.com/office/drawing/2014/main" id="{FB6134F2-2761-390F-47D1-C1565FBC87CA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311161" y="684430"/>
            <a:ext cx="8508999" cy="321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93600" rIns="0" bIns="0"/>
          <a:lstStyle xmlns:a="http://schemas.openxmlformats.org/drawingml/2006/main">
            <a:lvl1pPr marL="0" indent="0" algn="l">
              <a:lnSpc>
                <a:spcPts val="1800"/>
              </a:lnSpc>
              <a:spcBef>
                <a:spcPts val="600"/>
              </a:spcBef>
              <a:buNone/>
              <a:defRPr sz="1800">
                <a:solidFill>
                  <a:schemeClr val="bg2"/>
                </a:solidFill>
                <a:latin typeface="+mj-lt"/>
                <a:ea typeface="+mj-lt"/>
                <a:cs typeface="+mj-lt"/>
              </a:defRPr>
            </a:lvl1pPr>
            <a:lvl2pPr marL="0" indent="0">
              <a:buNone/>
              <a:defRPr/>
            </a:lvl2pPr>
            <a:lvl3pPr marL="176213" indent="0">
              <a:buNone/>
              <a:defRPr/>
            </a:lvl3pPr>
            <a:lvl4pPr marL="360363" indent="0">
              <a:buNone/>
              <a:defRPr/>
            </a:lvl4pPr>
            <a:lvl5pPr marL="538162" indent="0">
              <a:buNone/>
              <a:defRPr/>
            </a:lvl5pPr>
          </a:lstStyle>
          <a:p xmlns:a="http://schemas.openxmlformats.org/drawingml/2006/main"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/>
              <a:t>Untert</a:t>
            </a:r>
            <a:r>
              <a:rPr sz="1800"/>
              <a:t>itel durch Klicken bearbeiten</a:t>
            </a:r>
          </a:p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 userDrawn="1">
  <p:cSld name="1_Bilder formatfüllen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ildplatzhalter 2">
            <a:extLst xmlns:a="http://schemas.openxmlformats.org/drawingml/2006/main">
              <a:ext uri="{FF2B5EF4-FFF2-40B4-BE49-F238E27FC236}">
                <a16:creationId xmlns:a16="http://schemas.microsoft.com/office/drawing/2014/main" id="{647CB70D-4BEA-402A-AA42-EC17B226C897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0" y="1222524"/>
            <a:ext cx="9144000" cy="392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14000"/>
              </a:lnSpc>
              <a:buNone/>
              <a:defRPr sz="1400"/>
            </a:lvl1pPr>
          </a:lstStyle>
          <a:p xmlns:a="http://schemas.openxmlformats.org/drawingml/2006/main"/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675C33AA-CC89-42F0-AE53-7BB3E4333FE1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9">
            <a:extLst xmlns:a="http://schemas.openxmlformats.org/drawingml/2006/main">
              <a:ext uri="{FF2B5EF4-FFF2-40B4-BE49-F238E27FC236}">
                <a16:creationId xmlns:a16="http://schemas.microsoft.com/office/drawing/2014/main" id="{27C02584-48FE-4BCE-80E7-B25FD062506F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4" name="Titel 1">
            <a:extLst xmlns:a="http://schemas.openxmlformats.org/drawingml/2006/main">
              <a:ext uri="{FF2B5EF4-FFF2-40B4-BE49-F238E27FC236}">
                <a16:creationId xmlns:a16="http://schemas.microsoft.com/office/drawing/2014/main" id="{6F6AFFF9-3343-4B1B-8898-C1F255D0316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162" y="293460"/>
            <a:ext cx="8508999" cy="380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Titel durch Klicken bearbeiten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3C7BD577-B22A-4A4C-8D66-B526962E1AF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12311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Präsentationsmuster</a:t>
            </a:r>
            <a:br/>
            <a:br/>
            <a:r>
              <a:t>kann auch als </a:t>
            </a:r>
            <a:r>
              <a:t>Kapiteltrenner</a:t>
            </a:r>
            <a:r>
              <a:t> verwendet werden</a:t>
            </a:r>
          </a:p>
        </p:txBody>
      </p:sp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B4E36D5C-A9C5-4213-8D86-6747A4078C02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7" name="Fußzeilenplatzhalter 6">
            <a:extLst xmlns:a="http://schemas.openxmlformats.org/drawingml/2006/main">
              <a:ext uri="{FF2B5EF4-FFF2-40B4-BE49-F238E27FC236}">
                <a16:creationId xmlns:a16="http://schemas.microsoft.com/office/drawing/2014/main" id="{2E83E363-79DB-4401-831A-292385623AE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Layouts/slideLayout27.xml><?xml version="1.0" encoding="utf-8"?>
<p:sldLayout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el 1">
            <a:extLst xmlns:a="http://schemas.openxmlformats.org/drawingml/2006/main">
              <a:ext uri="{FF2B5EF4-FFF2-40B4-BE49-F238E27FC236}">
                <a16:creationId xmlns:a16="http://schemas.microsoft.com/office/drawing/2014/main" id="{0A172BE7-9580-4777-B9B3-69AE3266820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9090" y="972000"/>
            <a:ext cx="8508999" cy="12311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0" tIns="0" rIns="0" bIns="0" anchor="t">
            <a:spAutoFit/>
          </a:bodyPr>
          <a:lstStyle xmlns:a="http://schemas.openxmlformats.org/drawingml/2006/main">
            <a:lvl1pPr>
              <a:lnSpc>
                <a:spcPts val="3200"/>
              </a:lnSpc>
              <a:buNone/>
              <a:defRPr sz="25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>
              <a:buNone/>
            </a:pPr>
            <a:r>
              <a:t>Präsentationsmuster</a:t>
            </a:r>
            <a:br/>
            <a:br/>
            <a:r>
              <a:t>kann auch als </a:t>
            </a:r>
            <a:r>
              <a:t>Kapiteltrenner</a:t>
            </a:r>
            <a:r>
              <a:t> verwendet werden</a:t>
            </a:r>
          </a:p>
        </p:txBody>
      </p:sp>
      <p:sp>
        <p:nvSpPr>
          <p:cNvPr id="6" name="Foliennummernplatzhalter 5">
            <a:extLst xmlns:a="http://schemas.openxmlformats.org/drawingml/2006/main">
              <a:ext uri="{FF2B5EF4-FFF2-40B4-BE49-F238E27FC236}">
                <a16:creationId xmlns:a16="http://schemas.microsoft.com/office/drawing/2014/main" id="{A88CF1F4-6F53-44D5-B03D-6AB2735B621E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7">
            <a:extLst xmlns:a="http://schemas.openxmlformats.org/drawingml/2006/main">
              <a:ext uri="{FF2B5EF4-FFF2-40B4-BE49-F238E27FC236}">
                <a16:creationId xmlns:a16="http://schemas.microsoft.com/office/drawing/2014/main" id="{C46C423E-9A40-4B59-9A21-7E92CB2A9CE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wmf" Id="R770d457371ca4db1" /><Relationship Type="http://schemas.openxmlformats.org/officeDocument/2006/relationships/theme" Target="/ppt/slideMasters/theme/theme2.xml" Id="Ra485eb6a3f804584" /><Relationship Type="http://schemas.openxmlformats.org/officeDocument/2006/relationships/slideLayout" Target="/ppt/slideLayouts/slideLayout1.xml" Id="Rfd5992b20a3f478c" /><Relationship Type="http://schemas.openxmlformats.org/officeDocument/2006/relationships/slideLayout" Target="/ppt/slideLayouts/slideLayout2.xml" Id="R72865965219f4923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e8755b2a70db47dc" /><Relationship Type="http://schemas.openxmlformats.org/officeDocument/2006/relationships/slideLayout" Target="/ppt/slideLayouts/slideLayout3.xml" Id="R0683f4ff852d4819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image" Target="/ppt/media/image.jpeg" Id="R4dd7ecbd10364957" /><Relationship Type="http://schemas.openxmlformats.org/officeDocument/2006/relationships/image" Target="/ppt/media/image.emf" Id="R69c91b76116145f9" /><Relationship Type="http://schemas.openxmlformats.org/officeDocument/2006/relationships/theme" Target="/ppt/slideMasters/theme/theme4.xml" Id="Rbcb71b8add6d4eb9" /><Relationship Type="http://schemas.openxmlformats.org/officeDocument/2006/relationships/slideLayout" Target="/ppt/slideLayouts/slideLayout4.xml" Id="Rbcb81f97636c4b1c" /><Relationship Type="http://schemas.openxmlformats.org/officeDocument/2006/relationships/slideLayout" Target="/ppt/slideLayouts/slideLayout5.xml" Id="Rc4787534d3a8483d" /></Relationships>
</file>

<file path=ppt/slideMasters/_rels/slideMaster4.xml.rels>&#65279;<?xml version="1.0" encoding="utf-8"?><Relationships xmlns="http://schemas.openxmlformats.org/package/2006/relationships"><Relationship Type="http://schemas.openxmlformats.org/officeDocument/2006/relationships/image" Target="/ppt/media/image.wmf" Id="Rb0f241e5d97346a0" /><Relationship Type="http://schemas.openxmlformats.org/officeDocument/2006/relationships/theme" Target="/ppt/slideMasters/theme/theme5.xml" Id="Racf6ed65018a4941" /><Relationship Type="http://schemas.openxmlformats.org/officeDocument/2006/relationships/slideLayout" Target="/ppt/slideLayouts/slideLayout6.xml" Id="Rbbe7dc55503145cd" /><Relationship Type="http://schemas.openxmlformats.org/officeDocument/2006/relationships/slideLayout" Target="/ppt/slideLayouts/slideLayout7.xml" Id="R53b8f43dcc714854" /></Relationships>
</file>

<file path=ppt/slideMasters/_rels/slideMaster5.xml.rels>&#65279;<?xml version="1.0" encoding="utf-8"?><Relationships xmlns="http://schemas.openxmlformats.org/package/2006/relationships"><Relationship Type="http://schemas.openxmlformats.org/officeDocument/2006/relationships/image" Target="/ppt/media/image.wmf" Id="R4ebc877c5b4d4571" /><Relationship Type="http://schemas.openxmlformats.org/officeDocument/2006/relationships/theme" Target="/ppt/slideMasters/theme/theme6.xml" Id="R004ec9c93df54ed1" /><Relationship Type="http://schemas.openxmlformats.org/officeDocument/2006/relationships/slideLayout" Target="/ppt/slideLayouts/slideLayout8.xml" Id="Rf90fd3a16b544679" /><Relationship Type="http://schemas.openxmlformats.org/officeDocument/2006/relationships/slideLayout" Target="/ppt/slideLayouts/slideLayout9.xml" Id="Reb5c878900d54fa4" /><Relationship Type="http://schemas.openxmlformats.org/officeDocument/2006/relationships/slideLayout" Target="/ppt/slideLayouts/slideLayout10.xml" Id="R98a96b8e5e3c4c2c" /><Relationship Type="http://schemas.openxmlformats.org/officeDocument/2006/relationships/slideLayout" Target="/ppt/slideLayouts/slideLayout11.xml" Id="Rb5eb813f68d94f6f" /><Relationship Type="http://schemas.openxmlformats.org/officeDocument/2006/relationships/slideLayout" Target="/ppt/slideLayouts/slideLayout12.xml" Id="R14cab425ef114756" /><Relationship Type="http://schemas.openxmlformats.org/officeDocument/2006/relationships/slideLayout" Target="/ppt/slideLayouts/slideLayout13.xml" Id="R896241b59c594af5" /><Relationship Type="http://schemas.openxmlformats.org/officeDocument/2006/relationships/slideLayout" Target="/ppt/slideLayouts/slideLayout14.xml" Id="R3f3c0943b4f9413c" /><Relationship Type="http://schemas.openxmlformats.org/officeDocument/2006/relationships/slideLayout" Target="/ppt/slideLayouts/slideLayout15.xml" Id="R609ba7722c924057" /><Relationship Type="http://schemas.openxmlformats.org/officeDocument/2006/relationships/slideLayout" Target="/ppt/slideLayouts/slideLayout16.xml" Id="Rca007ab048974c37" /><Relationship Type="http://schemas.openxmlformats.org/officeDocument/2006/relationships/slideLayout" Target="/ppt/slideLayouts/slideLayout17.xml" Id="Refd82761672449a0" /><Relationship Type="http://schemas.openxmlformats.org/officeDocument/2006/relationships/slideLayout" Target="/ppt/slideLayouts/slideLayout18.xml" Id="R14365bacd9da47d4" /><Relationship Type="http://schemas.openxmlformats.org/officeDocument/2006/relationships/slideLayout" Target="/ppt/slideLayouts/slideLayout19.xml" Id="R66f494659fc348bd" /><Relationship Type="http://schemas.openxmlformats.org/officeDocument/2006/relationships/slideLayout" Target="/ppt/slideLayouts/slideLayout20.xml" Id="R6c7cd59f50c34769" /><Relationship Type="http://schemas.openxmlformats.org/officeDocument/2006/relationships/slideLayout" Target="/ppt/slideLayouts/slideLayout21.xml" Id="R97909ab8c4914fe4" /><Relationship Type="http://schemas.openxmlformats.org/officeDocument/2006/relationships/slideLayout" Target="/ppt/slideLayouts/slideLayout22.xml" Id="Rcacff20f4daa48dd" /><Relationship Type="http://schemas.openxmlformats.org/officeDocument/2006/relationships/slideLayout" Target="/ppt/slideLayouts/slideLayout23.xml" Id="R0209b7b144274fc5" /><Relationship Type="http://schemas.openxmlformats.org/officeDocument/2006/relationships/slideLayout" Target="/ppt/slideLayouts/slideLayout24.xml" Id="R8e59412ef56c43cc" /><Relationship Type="http://schemas.openxmlformats.org/officeDocument/2006/relationships/slideLayout" Target="/ppt/slideLayouts/slideLayout25.xml" Id="Rf973666c16aa4a0f" /></Relationships>
</file>

<file path=ppt/slideMasters/_rels/slideMaster6.xml.rels>&#65279;<?xml version="1.0" encoding="utf-8"?><Relationships xmlns="http://schemas.openxmlformats.org/package/2006/relationships"><Relationship Type="http://schemas.openxmlformats.org/officeDocument/2006/relationships/image" Target="/ppt/media/image.emf" Id="Rfecf20267c604412" /><Relationship Type="http://schemas.openxmlformats.org/officeDocument/2006/relationships/theme" Target="/ppt/slideMasters/theme/theme7.xml" Id="R0586d18d83094e39" /><Relationship Type="http://schemas.openxmlformats.org/officeDocument/2006/relationships/slideLayout" Target="/ppt/slideLayouts/slideLayout26.xml" Id="R2c9bcd778f4d4aac" /></Relationships>
</file>

<file path=ppt/slideMasters/_rels/slideMaster7.xml.rels>&#65279;<?xml version="1.0" encoding="utf-8"?><Relationships xmlns="http://schemas.openxmlformats.org/package/2006/relationships"><Relationship Type="http://schemas.openxmlformats.org/officeDocument/2006/relationships/image" Target="/ppt/media/image.emf" Id="R70f29f99b75942e7" /><Relationship Type="http://schemas.openxmlformats.org/officeDocument/2006/relationships/theme" Target="/ppt/slideMasters/theme/theme8.xml" Id="R9afc0953f4da4840" /><Relationship Type="http://schemas.openxmlformats.org/officeDocument/2006/relationships/slideLayout" Target="/ppt/slideLayouts/slideLayout27.xml" Id="R05bf316611644b9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693FD1BF-8AD2-4D54-AF01-E3BB0D0DBAB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7829538" cy="2885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sp>
        <p:nvSpPr>
          <p:cNvPr id="11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8BEF0153-28FB-4F74-AFA0-2BFBF9DB034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pic>
        <p:nvPicPr>
          <p:cNvPr id="12" name="Bild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d457371ca4d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604774" cy="318516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5992b20a3f478c"/>
    <p:sldLayoutId xmlns:r="http://schemas.openxmlformats.org/officeDocument/2006/relationships" id="2147483650" r:id="R72865965219f4923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2" r:id="R0683f4ff852d4819"/>
  </p:sldLayoutIdLst>
  <p:txStyles>
    <p:titleStyle>
      <a:lvl1pPr xmlns:a="http://schemas.openxmlformats.org/drawingml/2006/main" algn="l">
        <a:lnSpc>
          <a:spcPct val="90000"/>
        </a:lnSpc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3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feld 22">
            <a:extLst xmlns:a="http://schemas.openxmlformats.org/drawingml/2006/main">
              <a:ext uri="{FF2B5EF4-FFF2-40B4-BE49-F238E27FC236}">
                <a16:creationId xmlns:a16="http://schemas.microsoft.com/office/drawing/2014/main" id="{8FECA4B2-9A3C-41E2-BB87-DDC20C56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3330" y="4922462"/>
            <a:ext cx="1115376" cy="2105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</a:pPr>
            <a:fld id="{C51078C5-4710-4254-8001-F1C0900803FD}" type="slidenum">
              <a:rPr sz="1200">
                <a:latin typeface="+mn-lt"/>
                <a:ea typeface="+mn-lt"/>
                <a:cs typeface="+mn-lt"/>
              </a:rPr>
              <a:t>‹#›</a:t>
            </a:fld>
          </a:p>
        </p:txBody>
      </p:sp>
      <p:pic>
        <p:nvPicPr>
          <p:cNvPr id="24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7ecbd10364957"/>
          <a:srcRect xmlns:a="http://schemas.openxmlformats.org/drawingml/2006/main" l="398" t="14167" r="0" b="108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pic>
        <p:nvPicPr>
          <p:cNvPr id="25" name="Bild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c91b76116145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8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58A52F4E-682F-4938-BBCF-3D06A31AA3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4E841291-7BFB-4930-B448-41153F9C420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4" r:id="Rbcb81f97636c4b1c"/>
    <p:sldLayoutId xmlns:r="http://schemas.openxmlformats.org/officeDocument/2006/relationships" id="2147483655" r:id="Rc4787534d3a8483d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4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ACD7A4E8-F9F3-48F6-A30C-80CE86B8D8D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C1AD0A71-FB4B-456D-88F1-88565BC488E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  <p:pic>
        <p:nvPicPr>
          <p:cNvPr id="11" name="Bild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241e5d97346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411" y="324000"/>
            <a:ext cx="604774" cy="318516"/>
          </a:xfrm>
          <a:prstGeom xmlns:a="http://schemas.openxmlformats.org/drawingml/2006/main" prst="rect">
            <a:avLst/>
          </a:prstGeom>
        </p:spPr>
      </p:pic>
      <p:sp>
        <p:nvSpPr>
          <p:cNvPr id="11" name="Textfeld 10">
            <a:extLst xmlns:a="http://schemas.openxmlformats.org/drawingml/2006/main">
              <a:ext uri="{FF2B5EF4-FFF2-40B4-BE49-F238E27FC236}">
                <a16:creationId xmlns:a16="http://schemas.microsoft.com/office/drawing/2014/main" id="{31BFDA52-9264-4EC0-A59E-9E21E748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06" y="321468"/>
            <a:ext cx="7160425" cy="34624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Chair of High-Power Converter Systems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TUM School of Engineering and Design</a:t>
            </a:r>
          </a:p>
          <a:p xmlns:a="http://schemas.openxmlformats.org/drawingml/2006/main">
            <a:pPr>
              <a:lnSpc>
                <a:spcPts val="900"/>
              </a:lnSpc>
              <a:buNone/>
            </a:pPr>
            <a:r>
              <a:rPr sz="800">
                <a:solidFill>
                  <a:schemeClr val="tx2"/>
                </a:solidFill>
                <a:latin typeface="+mn-lt"/>
                <a:ea typeface="+mn-lt"/>
                <a:cs typeface="+mn-lt"/>
              </a:rPr>
              <a:t>Technical University of Munich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7" r:id="Rbbe7dc55503145cd"/>
    <p:sldLayoutId xmlns:r="http://schemas.openxmlformats.org/officeDocument/2006/relationships" id="2147483658" r:id="R53b8f43dcc714854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5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Bild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bc877c5b4d45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411" y="324000"/>
            <a:ext cx="604774" cy="318516"/>
          </a:xfrm>
          <a:prstGeom xmlns:a="http://schemas.openxmlformats.org/drawingml/2006/main" prst="rect">
            <a:avLst/>
          </a:prstGeom>
        </p:spPr>
      </p:pic>
      <p:sp>
        <p:nvSpPr>
          <p:cNvPr id="5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98B7BD3C-E339-44E2-817C-65E4B4F201D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74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6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907CC1B3-8195-4E5D-89AE-DABE60365FB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0" r:id="Rf90fd3a16b544679"/>
    <p:sldLayoutId xmlns:r="http://schemas.openxmlformats.org/officeDocument/2006/relationships" id="2147483661" r:id="Reb5c878900d54fa4"/>
    <p:sldLayoutId xmlns:r="http://schemas.openxmlformats.org/officeDocument/2006/relationships" id="2147483662" r:id="R98a96b8e5e3c4c2c"/>
    <p:sldLayoutId xmlns:r="http://schemas.openxmlformats.org/officeDocument/2006/relationships" id="2147483663" r:id="Rb5eb813f68d94f6f"/>
    <p:sldLayoutId xmlns:r="http://schemas.openxmlformats.org/officeDocument/2006/relationships" id="2147483664" r:id="R14cab425ef114756"/>
    <p:sldLayoutId xmlns:r="http://schemas.openxmlformats.org/officeDocument/2006/relationships" id="2147483665" r:id="R896241b59c594af5"/>
    <p:sldLayoutId xmlns:r="http://schemas.openxmlformats.org/officeDocument/2006/relationships" id="2147483666" r:id="R3f3c0943b4f9413c"/>
    <p:sldLayoutId xmlns:r="http://schemas.openxmlformats.org/officeDocument/2006/relationships" id="2147483667" r:id="R609ba7722c924057"/>
    <p:sldLayoutId xmlns:r="http://schemas.openxmlformats.org/officeDocument/2006/relationships" id="2147483668" r:id="Rca007ab048974c37"/>
    <p:sldLayoutId xmlns:r="http://schemas.openxmlformats.org/officeDocument/2006/relationships" id="2147483669" r:id="Refd82761672449a0"/>
    <p:sldLayoutId xmlns:r="http://schemas.openxmlformats.org/officeDocument/2006/relationships" id="2147483670" r:id="R14365bacd9da47d4"/>
    <p:sldLayoutId xmlns:r="http://schemas.openxmlformats.org/officeDocument/2006/relationships" id="2147483671" r:id="R66f494659fc348bd"/>
    <p:sldLayoutId xmlns:r="http://schemas.openxmlformats.org/officeDocument/2006/relationships" id="2147483672" r:id="R6c7cd59f50c34769"/>
    <p:sldLayoutId xmlns:r="http://schemas.openxmlformats.org/officeDocument/2006/relationships" id="2147483673" r:id="R97909ab8c4914fe4"/>
    <p:sldLayoutId xmlns:r="http://schemas.openxmlformats.org/officeDocument/2006/relationships" id="2147483674" r:id="Rcacff20f4daa48dd"/>
    <p:sldLayoutId xmlns:r="http://schemas.openxmlformats.org/officeDocument/2006/relationships" id="2147483675" r:id="R0209b7b144274fc5"/>
    <p:sldLayoutId xmlns:r="http://schemas.openxmlformats.org/officeDocument/2006/relationships" id="2147483676" r:id="R8e59412ef56c43cc"/>
    <p:sldLayoutId xmlns:r="http://schemas.openxmlformats.org/officeDocument/2006/relationships" id="2147483677" r:id="Rf973666c16aa4a0f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5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6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hteck 5">
            <a:extLst xmlns:a="http://schemas.openxmlformats.org/drawingml/2006/main">
              <a:ext uri="{FF2B5EF4-FFF2-40B4-BE49-F238E27FC236}">
                <a16:creationId xmlns:a16="http://schemas.microsoft.com/office/drawing/2014/main" id="{F59C46F9-EE3A-44A0-9072-A0721856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</a:pPr>
          </a:p>
        </p:txBody>
      </p:sp>
      <p:pic>
        <p:nvPicPr>
          <p:cNvPr id="7" name="Bild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cf20267c60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7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D759EAAE-F44E-429A-BE24-40EB65410DA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8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CBC80C1A-A56E-4025-BE65-2945465A5B5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9" r:id="R2c9bcd778f4d4aac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slideMaster7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chteck 6">
            <a:extLst xmlns:a="http://schemas.openxmlformats.org/drawingml/2006/main">
              <a:ext uri="{FF2B5EF4-FFF2-40B4-BE49-F238E27FC236}">
                <a16:creationId xmlns:a16="http://schemas.microsoft.com/office/drawing/2014/main" id="{C948EF10-418F-4E44-B3E4-72122A1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rot="0" spcFirstLastPara="0" vert="horz" wrap="square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</a:pPr>
          </a:p>
        </p:txBody>
      </p:sp>
      <p:pic>
        <p:nvPicPr>
          <p:cNvPr id="8" name="Bild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f29f99b75942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8800" y="324000"/>
            <a:ext cx="599513" cy="320288"/>
          </a:xfrm>
          <a:prstGeom xmlns:a="http://schemas.openxmlformats.org/drawingml/2006/main" prst="rect">
            <a:avLst/>
          </a:prstGeom>
        </p:spPr>
      </p:pic>
      <p:sp>
        <p:nvSpPr>
          <p:cNvPr id="9" name="Foliennummernplatzhalter 4">
            <a:extLst xmlns:a="http://schemas.openxmlformats.org/drawingml/2006/main">
              <a:ext uri="{FF2B5EF4-FFF2-40B4-BE49-F238E27FC236}">
                <a16:creationId xmlns:a16="http://schemas.microsoft.com/office/drawing/2014/main" id="{C9284DA5-5B66-4F69-AAEA-2D61F83C376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774934" y="4854985"/>
            <a:ext cx="205200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r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fld id="{CE58CB1E-F828-4F11-99E0-327109AF9DA4}" type="slidenum">
              <a:t>‹#›</a:t>
            </a:fld>
          </a:p>
        </p:txBody>
      </p:sp>
      <p:sp>
        <p:nvSpPr>
          <p:cNvPr id="10" name="Fußzeilenplatzhalter 3">
            <a:extLst xmlns:a="http://schemas.openxmlformats.org/drawingml/2006/main">
              <a:ext uri="{FF2B5EF4-FFF2-40B4-BE49-F238E27FC236}">
                <a16:creationId xmlns:a16="http://schemas.microsoft.com/office/drawing/2014/main" id="{F91B359D-4147-4FEB-BA0D-B39859A275E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1162" y="4854985"/>
            <a:ext cx="6464280" cy="273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45720" rIns="0" bIns="45720" anchor="ctr"/>
          <a:lstStyle xmlns:a="http://schemas.openxmlformats.org/drawingml/2006/main">
            <a:lvl1pPr algn="l">
              <a:buNone/>
              <a:defRPr sz="11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Dr. rer. nat. Erika Mustermann (TUM) | kann beliebig erweitert werden | Infos mit Strich trennen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81" r:id="R05bf316611644b93"/>
  </p:sldLayoutIdLst>
  <p:hf hdr="0" dt="0"/>
  <p:txStyles>
    <p:titleStyle>
      <a:lvl1pPr xmlns:a="http://schemas.openxmlformats.org/drawingml/2006/main" algn="l">
        <a:lnSpc>
          <a:spcPct val="125000"/>
        </a:lnSpc>
        <a:buNone/>
        <a:defRPr sz="2200" b="0">
          <a:solidFill>
            <a:schemeClr val="tx1"/>
          </a:solidFill>
          <a:latin typeface="+mj-lt"/>
          <a:ea typeface="+mj-lt"/>
          <a:cs typeface="+mj-lt"/>
        </a:defRPr>
      </a:lvl1pPr>
      <a:lvl2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2pPr>
      <a:lvl3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3pPr>
      <a:lvl4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4pPr>
      <a:lvl5pPr xmlns:a="http://schemas.openxmlformats.org/drawingml/2006/main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5pPr>
      <a:lvl6pPr xmlns:a="http://schemas.openxmlformats.org/drawingml/2006/main" marL="4572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6pPr>
      <a:lvl7pPr xmlns:a="http://schemas.openxmlformats.org/drawingml/2006/main" marL="9144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7pPr>
      <a:lvl8pPr xmlns:a="http://schemas.openxmlformats.org/drawingml/2006/main" marL="13716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8pPr>
      <a:lvl9pPr xmlns:a="http://schemas.openxmlformats.org/drawingml/2006/main" marL="1828800" algn="l">
        <a:buNone/>
        <a:defRPr sz="2000" b="1">
          <a:solidFill>
            <a:schemeClr val="tx2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buNone/>
        <a:defRPr sz="16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76213" indent="-176213" algn="l">
        <a:lnSpc>
          <a:spcPct val="100000"/>
        </a:lnSpc>
        <a:buChar char="•"/>
        <a:defRPr sz="16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360363" indent="-18415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538163" indent="-177800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714375" indent="-176213" algn="l">
        <a:lnSpc>
          <a:spcPct val="125000"/>
        </a:lnSpc>
        <a:buChar char="-"/>
        <a:defRPr sz="14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xmlns:a="http://schemas.openxmlformats.org/drawingml/2006/main" val="F26B43"/>
          </p15:clr>
        </p15:guide>
        <p15:guide id="2" pos="2880" userDrawn="1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Title Blank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Titel 2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5.xml><?xml version="1.0" encoding="utf-8"?>
<a:theme xmlns:a="http://schemas.openxmlformats.org/drawingml/2006/main" name="Titel 3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6.xml><?xml version="1.0" encoding="utf-8"?>
<a:theme xmlns:a="http://schemas.openxmlformats.org/drawingml/2006/main" name="Inhalt">
  <a:themeElements>
    <a:clrScheme name="TUM">
      <a:dk1>
        <a:sysClr val="windowText" lastClr="000000"/>
      </a:dk1>
      <a:lt1>
        <a:sysClr val="window" lastClr="FFFFFF"/>
      </a:lt1>
      <a:dk2>
        <a:srgbClr val="003359"/>
      </a:dk2>
      <a:lt2>
        <a:srgbClr val="0065BD"/>
      </a:lt2>
      <a:accent1>
        <a:srgbClr val="005293"/>
      </a:accent1>
      <a:accent2>
        <a:srgbClr val="64A0C8"/>
      </a:accent2>
      <a:accent3>
        <a:srgbClr val="98C6EA"/>
      </a:accent3>
      <a:accent4>
        <a:srgbClr val="A2AD00"/>
      </a:accent4>
      <a:accent5>
        <a:srgbClr val="E37222"/>
      </a:accent5>
      <a:accent6>
        <a:srgbClr val="DAD7CB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7.xml><?xml version="1.0" encoding="utf-8"?>
<a:theme xmlns:a="http://schemas.openxmlformats.org/drawingml/2006/main" name="Kapiteltrenner blau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8.xml><?xml version="1.0" encoding="utf-8"?>
<a:theme xmlns:a="http://schemas.openxmlformats.org/drawingml/2006/main" name="Kapiteltrenner schwarz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a842f05e146c0" /><Relationship Type="http://schemas.openxmlformats.org/officeDocument/2006/relationships/image" Target="/ppt/media/image2.jpeg" Id="R81fd95dd6d3a4c7e" /><Relationship Type="http://schemas.openxmlformats.org/officeDocument/2006/relationships/notesSlide" Target="/ppt/notesSlides/notesSlide1.xml" Id="R82e6896454744f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e3abf3395e4c0c" /><Relationship Type="http://schemas.openxmlformats.org/officeDocument/2006/relationships/notesSlide" Target="/ppt/notesSlides/notesSlide2.xml" Id="R2879febf770e48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b715218e87ce46bc" /><Relationship Type="http://schemas.openxmlformats.org/officeDocument/2006/relationships/chart" Target="/ppt/slides/charts/chart1.xml" Id="R2ccdcdd506824f22" /><Relationship Type="http://schemas.openxmlformats.org/officeDocument/2006/relationships/notesSlide" Target="/ppt/notesSlides/notesSlide3.xml" Id="Red84696d1bb54b0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5ec4cd31abb0422d" /><Relationship Type="http://schemas.openxmlformats.org/officeDocument/2006/relationships/notesSlide" Target="/ppt/notesSlides/notesSlide4.xml" Id="R30b171f109254c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c018550b2f4341" /><Relationship Type="http://schemas.openxmlformats.org/officeDocument/2006/relationships/notesSlide" Target="/ppt/notesSlides/notesSlide5.xml" Id="Rb4c3575ef25042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ebf059200e54a65" /><Relationship Type="http://schemas.openxmlformats.org/officeDocument/2006/relationships/notesSlide" Target="/ppt/notesSlides/notesSlide6.xml" Id="R37be67399bba4f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85bfdfa81f164ebc" /><Relationship Type="http://schemas.openxmlformats.org/officeDocument/2006/relationships/notesSlide" Target="/ppt/notesSlides/notesSlide7.xml" Id="R7bc9f7010d8a46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d1825b17c7364d13" /><Relationship Type="http://schemas.openxmlformats.org/officeDocument/2006/relationships/notesSlide" Target="/ppt/notesSlides/notesSlide8.xml" Id="R459d4c03199848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c07c4d2bdced4de7" /><Relationship Type="http://schemas.openxmlformats.org/officeDocument/2006/relationships/chart" Target="/ppt/slides/charts/chart2.xml" Id="R02a15bda6b114c8a" /><Relationship Type="http://schemas.openxmlformats.org/officeDocument/2006/relationships/notesSlide" Target="/ppt/notesSlides/notesSlide9.xml" Id="R85a663dfac0749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986067e8504e7c" /><Relationship Type="http://schemas.openxmlformats.org/officeDocument/2006/relationships/notesSlide" Target="/ppt/notesSlides/notesSlide10.xml" Id="R7dc1733bf42c4e9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734aaa07b7854f50" /><Relationship Type="http://schemas.openxmlformats.org/officeDocument/2006/relationships/notesSlide" Target="/ppt/notesSlides/notesSlide11.xml" Id="R35dc6f558aca4a4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a493cae47cb047bc" /><Relationship Type="http://schemas.openxmlformats.org/officeDocument/2006/relationships/notesSlide" Target="/ppt/notesSlides/notesSlide12.xml" Id="Ra45effc5959648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690008869e77456b" /><Relationship Type="http://schemas.openxmlformats.org/officeDocument/2006/relationships/notesSlide" Target="/ppt/notesSlides/notesSlide13.xml" Id="Ra0577d99e5a948f5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750" b="1">
                <a:solidFill>
                  <a:srgbClr val="000000"/>
                </a:solidFill>
              </a:rPr>
              <a:t>Offer-anchor trade-off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 b="1">
              <a:solidFill>
                <a:srgbClr val="000000"/>
              </a:solidFill>
            </a:defRPr>
          </a:pPr>
        </a:p>
      </c:txPr>
    </c:title>
    <c:autoTitleDeleted val="0"/>
    <c:plotArea>
      <c:lineChart>
        <c:grouping val="standard"/>
        <c:ser>
          <c:idx val="0"/>
          <c:order val="0"/>
          <c:tx>
            <c:v>P(accept)</c:v>
          </c:tx>
          <c:spPr>
            <a:ln xmlns:a="http://schemas.openxmlformats.org/drawingml/2006/main" w="20955">
              <a:solidFill>
                <a:srgbClr val="005293"/>
              </a:solidFill>
              <a:prstDash val="solid"/>
            </a:ln>
          </c:spPr>
          <c:marker>
            <c:symbol val="none"/>
          </c:marker>
          <c:dLbls/>
          <c:cat>
            <c:numLit>
              <c:formatCode>General</c:formatCode>
              <c:ptCount val="9"/>
              <c:pt idx="0">
                <c:v>0.1</c:v>
              </c:pt>
              <c:pt idx="1">
                <c:v>0.2</c:v>
              </c:pt>
              <c:pt idx="2">
                <c:v>0.3</c:v>
              </c:pt>
              <c:pt idx="3">
                <c:v>0.4</c:v>
              </c:pt>
              <c:pt idx="4">
                <c:v>0.5</c:v>
              </c:pt>
              <c:pt idx="5">
                <c:v>0.6</c:v>
              </c:pt>
              <c:pt idx="6">
                <c:v>0.7</c:v>
              </c:pt>
              <c:pt idx="7">
                <c:v>0.8</c:v>
              </c:pt>
              <c:pt idx="8">
                <c:v>0.9</c:v>
              </c:pt>
            </c:numLit>
          </c:cat>
          <c:val>
            <c:numLit>
              <c:formatCode>0.0</c:formatCode>
              <c:ptCount val="9"/>
              <c:pt idx="0">
                <c:v>0.05</c:v>
              </c:pt>
              <c:pt idx="1">
                <c:v>0.09</c:v>
              </c:pt>
              <c:pt idx="2">
                <c:v>0.16</c:v>
              </c:pt>
              <c:pt idx="3">
                <c:v>0.27</c:v>
              </c:pt>
              <c:pt idx="4">
                <c:v>0.42</c:v>
              </c:pt>
              <c:pt idx="5">
                <c:v>0.58</c:v>
              </c:pt>
              <c:pt idx="6">
                <c:v>0.73</c:v>
              </c:pt>
              <c:pt idx="7">
                <c:v>0.84</c:v>
              </c:pt>
              <c:pt idx="8">
                <c:v>0.91</c:v>
              </c:pt>
            </c:numLit>
          </c:val>
          <c:smooth val="0"/>
        </c:ser>
        <c:ser>
          <c:idx val="1"/>
          <c:order val="1"/>
          <c:tx>
            <c:v>1 - anchor</c:v>
          </c:tx>
          <c:spPr>
            <a:ln xmlns:a="http://schemas.openxmlformats.org/drawingml/2006/main" w="15240">
              <a:solidFill>
                <a:srgbClr val="777777"/>
              </a:solidFill>
              <a:prstDash val="solid"/>
            </a:ln>
          </c:spPr>
          <c:marker>
            <c:symbol val="none"/>
          </c:marker>
          <c:dLbls/>
          <c:cat>
            <c:numLit>
              <c:formatCode>General</c:formatCode>
              <c:ptCount val="9"/>
              <c:pt idx="0">
                <c:v>0.1</c:v>
              </c:pt>
              <c:pt idx="1">
                <c:v>0.2</c:v>
              </c:pt>
              <c:pt idx="2">
                <c:v>0.3</c:v>
              </c:pt>
              <c:pt idx="3">
                <c:v>0.4</c:v>
              </c:pt>
              <c:pt idx="4">
                <c:v>0.5</c:v>
              </c:pt>
              <c:pt idx="5">
                <c:v>0.6</c:v>
              </c:pt>
              <c:pt idx="6">
                <c:v>0.7</c:v>
              </c:pt>
              <c:pt idx="7">
                <c:v>0.8</c:v>
              </c:pt>
              <c:pt idx="8">
                <c:v>0.9</c:v>
              </c:pt>
            </c:numLit>
          </c:cat>
          <c:val>
            <c:numLit>
              <c:formatCode>0.0</c:formatCode>
              <c:ptCount val="9"/>
              <c:pt idx="0">
                <c:v>0.9</c:v>
              </c:pt>
              <c:pt idx="1">
                <c:v>0.8</c:v>
              </c:pt>
              <c:pt idx="2">
                <c:v>0.7</c:v>
              </c:pt>
              <c:pt idx="3">
                <c:v>0.6</c:v>
              </c:pt>
              <c:pt idx="4">
                <c:v>0.5</c:v>
              </c:pt>
              <c:pt idx="5">
                <c:v>0.4</c:v>
              </c:pt>
              <c:pt idx="6">
                <c:v>0.3</c:v>
              </c:pt>
              <c:pt idx="7">
                <c:v>0.2</c:v>
              </c:pt>
              <c:pt idx="8">
                <c:v>0.1</c:v>
              </c:pt>
            </c:numLit>
          </c:val>
          <c:smooth val="0"/>
        </c:ser>
        <c:ser>
          <c:idx val="2"/>
          <c:order val="2"/>
          <c:tx>
            <c:v>expected savings</c:v>
          </c:tx>
          <c:spPr>
            <a:ln xmlns:a="http://schemas.openxmlformats.org/drawingml/2006/main" w="22860">
              <a:solidFill>
                <a:srgbClr val="A2AD00"/>
              </a:solidFill>
              <a:prstDash val="solid"/>
            </a:ln>
          </c:spPr>
          <c:marker>
            <c:symbol val="none"/>
          </c:marker>
          <c:dLbls/>
          <c:cat>
            <c:numLit>
              <c:formatCode>General</c:formatCode>
              <c:ptCount val="9"/>
              <c:pt idx="0">
                <c:v>0.1</c:v>
              </c:pt>
              <c:pt idx="1">
                <c:v>0.2</c:v>
              </c:pt>
              <c:pt idx="2">
                <c:v>0.3</c:v>
              </c:pt>
              <c:pt idx="3">
                <c:v>0.4</c:v>
              </c:pt>
              <c:pt idx="4">
                <c:v>0.5</c:v>
              </c:pt>
              <c:pt idx="5">
                <c:v>0.6</c:v>
              </c:pt>
              <c:pt idx="6">
                <c:v>0.7</c:v>
              </c:pt>
              <c:pt idx="7">
                <c:v>0.8</c:v>
              </c:pt>
              <c:pt idx="8">
                <c:v>0.9</c:v>
              </c:pt>
            </c:numLit>
          </c:cat>
          <c:val>
            <c:numLit>
              <c:formatCode>0.0</c:formatCode>
              <c:ptCount val="9"/>
              <c:pt idx="0">
                <c:v>0.045</c:v>
              </c:pt>
              <c:pt idx="1">
                <c:v>0.072</c:v>
              </c:pt>
              <c:pt idx="2">
                <c:v>0.112</c:v>
              </c:pt>
              <c:pt idx="3">
                <c:v>0.162</c:v>
              </c:pt>
              <c:pt idx="4">
                <c:v>0.21</c:v>
              </c:pt>
              <c:pt idx="5">
                <c:v>0.232</c:v>
              </c:pt>
              <c:pt idx="6">
                <c:v>0.219</c:v>
              </c:pt>
              <c:pt idx="7">
                <c:v>0.168</c:v>
              </c:pt>
              <c:pt idx="8">
                <c:v>0.091</c:v>
              </c:pt>
            </c:numLit>
          </c:val>
          <c:smooth val="0"/>
        </c:ser>
        <c:dLbls>
          <c:showVal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600">
                    <a:solidFill>
                      <a:srgbClr val="000000"/>
                    </a:solidFill>
                  </a:rPr>
                  <a:t>anchor a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>
                  <a:solidFill>
                    <a:srgbClr val="000000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25">
                <a:solidFill>
                  <a:srgbClr val="000000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6F2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25">
                <a:solidFill>
                  <a:srgbClr val="000000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600">
              <a:solidFill>
                <a:srgbClr val="00000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750" b="1">
                <a:solidFill>
                  <a:srgbClr val="000000"/>
                </a:solidFill>
              </a:rPr>
              <a:t>Effective sample size at h = 0.05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 b="1">
              <a:solidFill>
                <a:srgbClr val="000000"/>
              </a:solidFill>
            </a:defRPr>
          </a:pPr>
        </a:p>
      </c:txPr>
    </c:title>
    <c:autoTitleDeleted val="0"/>
    <c:plotArea>
      <c:barChart>
        <c:barDir val="bar"/>
        <c:grouping val="clustered"/>
        <c:varyColors val="0"/>
        <c:ser>
          <c:idx val="0"/>
          <c:order val="0"/>
          <c:tx>
            <c:v>ESS fraction</c:v>
          </c:tx>
          <c:spPr>
            <a:solidFill xmlns:a="http://schemas.openxmlformats.org/drawingml/2006/main">
              <a:srgbClr val="005293"/>
            </a:solidFill>
          </c:spPr>
          <c:dLbls/>
          <c:cat>
            <c:strLit>
              <c:ptCount val="3"/>
              <c:pt idx="0">
                <c:v>Greedy</c:v>
              </c:pt>
              <c:pt idx="1">
                <c:v>CQL</c:v>
              </c:pt>
              <c:pt idx="2">
                <c:v>Fixed 0.70</c:v>
              </c:pt>
            </c:strLit>
          </c:cat>
          <c:val>
            <c:numLit>
              <c:formatCode>General</c:formatCode>
              <c:ptCount val="3"/>
              <c:pt idx="0">
                <c:v>0.8</c:v>
              </c:pt>
              <c:pt idx="1">
                <c:v>36.2</c:v>
              </c:pt>
              <c:pt idx="2">
                <c:v>36.2</c:v>
              </c:pt>
            </c:numLit>
          </c:val>
        </c:ser>
        <c:dLbls>
          <c:showVal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E6F2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600">
                    <a:solidFill>
                      <a:srgbClr val="000000"/>
                    </a:solidFill>
                  </a:rPr>
                  <a:t>ESS share (%)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00">
                  <a:solidFill>
                    <a:srgbClr val="000000"/>
                  </a:solidFill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25">
                <a:solidFill>
                  <a:srgbClr val="000000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00">
                <a:solidFill>
                  <a:srgbClr val="000000"/>
                </a:solidFill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d95dd6d3a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5215" y="1476375"/>
            <a:ext cx="3819542" cy="3333750"/>
          </a:xfrm>
          <a:prstGeom xmlns:a="http://schemas.openxmlformats.org/drawingml/2006/main" prst="rect">
            <a:avLst/>
          </a:prstGeom>
        </p:spPr>
      </p:pic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CBA5DE16-AA16-42B5-8437-1150F300445B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319088" y="1484040"/>
            <a:ext cx="8508999" cy="17163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Offline and Simulated Online Reinforcement Learning</a:t>
            </a:r>
          </a:p>
          <a:p xmlns:a="http://schemas.openxmlformats.org/drawingml/2006/main">
            <a:r>
              <a:t>for eBay Best Offer Anchoring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Support-aware decision support for buyer opening offers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Nathan Nozik | Final project presentation</a:t>
            </a:r>
          </a:p>
          <a:p xmlns:a="http://schemas.openxmlformats.org/drawingml/2006/main">
            <a:r>
              <a:t>Advanced Seminar (WIHN0043SE)</a:t>
            </a:r>
          </a:p>
          <a:p xmlns:a="http://schemas.openxmlformats.org/drawingml/2006/main">
            <a:r>
              <a:t>Real-World Applications of Deep Learning and RL</a:t>
            </a:r>
          </a:p>
          <a:p xmlns:a="http://schemas.openxmlformats.org/drawingml/2006/main">
            <a:r>
              <a:t>TUM School of Management | Chair of Business Analytics</a:t>
            </a:r>
          </a:p>
          <a:p xmlns:a="http://schemas.openxmlformats.org/drawingml/2006/main">
            <a:r>
              <a:t>Heilbronn, 31.07.2026</a:t>
            </a:r>
          </a:p>
        </p:txBody>
      </p:sp>
    </p:spTree>
    <p:extLst>
      <p:ext uri="{BB962C8B-B14F-4D97-AF65-F5344CB8AC3E}">
        <p14:creationId xmlns:p14="http://schemas.microsoft.com/office/powerpoint/2010/main" val="160892235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349F6ED9-DD01-46EA-A0B2-3CF37391F570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</a:t>
            </a:r>
          </a:p>
          <a:p xmlns:a="http://schemas.openxmlformats.org/drawingml/2006/main">
            <a:r>
              <a:t>Why opening anchors need support-aware modeling</a:t>
            </a:r>
          </a:p>
        </p:txBody>
      </p:sp>
    </p:spTree>
    <p:extLst>
      <p:ext uri="{BB962C8B-B14F-4D97-AF65-F5344CB8AC3E}">
        <p14:creationId xmlns:p14="http://schemas.microsoft.com/office/powerpoint/2010/main" val="84879336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jacket lists at EUR 100 with Best Offer. What do you offer?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Lower anchors raise the prize (1 - a) but lower the chance of acceptance.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Expected savings:</a:t>
            </a:r>
          </a:p>
          <a:p xmlns:a="http://schemas.openxmlformats.org/drawingml/2006/main">
            <a:r>
              <a:t>E[savings] = P(accept | s, a) * (1 - a)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useful anchor is an interior trade-off, not simply the lowest offer.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ADEEDC-EEE1-8597-0639-A35D9BA153EC}" type="slidenum">
              <a:t>03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Why: the lowest offer is not automatically the best decision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762500" y="1257300"/>
          <a:ext xmlns:a="http://schemas.openxmlformats.org/drawingml/2006/main" cx="3524250" cy="2305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ccdcdd506824f2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BFFF87-F26C-476E-9910-7F365F25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671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</a:defRPr>
            </a:pPr>
            <a:r>
              <a:rPr sz="750" b="0">
                <a:solidFill>
                  <a:srgbClr val="000000"/>
                </a:solidFill>
              </a:rPr>
              <a:t>Illustrative curve, not an empirical fit.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Prior work establishes the setting</a:t>
            </a:r>
          </a:p>
          <a:p xmlns:a="http://schemas.openxmlformats.org/drawingml/2006/main">
            <a:r>
              <a:t>Tversky and Kahneman: numeric anchors shape judgment.</a:t>
            </a:r>
          </a:p>
          <a:p xmlns:a="http://schemas.openxmlformats.org/drawingml/2006/main">
            <a:r>
              <a:t>Galinsky and Mussweiler: first offers anchor negotiations.</a:t>
            </a:r>
          </a:p>
          <a:p xmlns:a="http://schemas.openxmlformats.org/drawingml/2006/main">
            <a:r>
              <a:t>Backus et al.: eBay Best Offer is sequential bargaining at scale.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this dataset cannot identify</a:t>
            </a:r>
          </a:p>
          <a:p xmlns:a="http://schemas.openxmlformats.org/drawingml/2006/main">
            <a:r>
              <a:t>Offers were chosen by buyers, not randomized.</a:t>
            </a:r>
          </a:p>
          <a:p xmlns:a="http://schemas.openxmlformats.org/drawingml/2006/main">
            <a:r>
              <a:t>Greedy optimization can select anchors the logs barely contain.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Support diagnostics are therefore part of the main result.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9970F6C-59B2-055B-5132-2DC31A7003A7}" type="slidenum">
              <a:t>04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Why: prior work motivates the question, but not a causal claim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349F6ED9-DD01-46EA-A0B2-3CF37391F570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</a:t>
            </a:r>
          </a:p>
          <a:p xmlns:a="http://schemas.openxmlformats.org/drawingml/2006/main">
            <a:r>
              <a:t>From 9.6M logged offers to a support-aware comparison</a:t>
            </a:r>
          </a:p>
        </p:txBody>
      </p:sp>
    </p:spTree>
    <p:extLst>
      <p:ext uri="{BB962C8B-B14F-4D97-AF65-F5344CB8AC3E}">
        <p14:creationId xmlns:p14="http://schemas.microsoft.com/office/powerpoint/2010/main" val="84879336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</a:t>
            </a:r>
          </a:p>
          <a:p xmlns:a="http://schemas.openxmlformats.org/drawingml/2006/main">
            <a:r>
              <a:t>log list price, seller reputation, seller positive %, anonymized leaf-category context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</a:t>
            </a:r>
          </a:p>
          <a:p xmlns:a="http://schemas.openxmlformats.org/drawingml/2006/main">
            <a:r>
              <a:t>anchor a = opening offer / list price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Reward</a:t>
            </a:r>
          </a:p>
          <a:p xmlns:a="http://schemas.openxmlformats.org/drawingml/2006/main">
            <a:r>
              <a:t>1 - a if accepted, otherwise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separate price model</a:t>
            </a:r>
          </a:p>
          <a:p xmlns:a="http://schemas.openxmlformats.org/drawingml/2006/main">
            <a:r>
              <a:t>accepted-offer savings are mechanical in the anchor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9BFB0FA-5DC7-50DB-D53A-0B6D0E34987E}" type="slidenum">
              <a:t>06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a one-step decision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87574-8985-4A50-94E6-AB5C1BCE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0970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C9D28-2C14-4BC3-96EA-89B39894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15049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5293"/>
                </a:solidFill>
              </a:defRPr>
            </a:pPr>
            <a:r>
              <a:rPr sz="1350" b="1">
                <a:solidFill>
                  <a:srgbClr val="005293"/>
                </a:solidFill>
              </a:rPr>
              <a:t>7.67M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2C38E-890F-407F-AB2A-C826A23B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17621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20" b="0">
                <a:solidFill>
                  <a:srgbClr val="000000"/>
                </a:solidFill>
              </a:defRPr>
            </a:pPr>
            <a:r>
              <a:rPr sz="720" b="0">
                <a:solidFill>
                  <a:srgbClr val="000000"/>
                </a:solidFill>
              </a:rPr>
              <a:t>training interactions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2E7591-D035-4E50-B1A2-9C21BAB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0970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D4C901-E482-43ED-9107-FE8FF2E7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5049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5293"/>
                </a:solidFill>
              </a:defRPr>
            </a:pPr>
            <a:r>
              <a:rPr sz="1350" b="1">
                <a:solidFill>
                  <a:srgbClr val="005293"/>
                </a:solidFill>
              </a:rPr>
              <a:t>0.701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4BB25-76F8-49E7-9362-7D19C752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7621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20" b="0">
                <a:solidFill>
                  <a:srgbClr val="000000"/>
                </a:solidFill>
              </a:defRPr>
            </a:pPr>
            <a:r>
              <a:rPr sz="720" b="0">
                <a:solidFill>
                  <a:srgbClr val="000000"/>
                </a:solidFill>
              </a:rPr>
              <a:t>test 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507145-C4BC-4F05-9D69-F9BF6177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409700"/>
            <a:ext cx="10668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9525">
            <a:solidFill>
              <a:srgbClr val="D6E5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D0B745-86CB-4219-9D54-42E93D16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1504950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5293"/>
                </a:solidFill>
              </a:defRPr>
            </a:pPr>
            <a:r>
              <a:rPr sz="1350" b="1">
                <a:solidFill>
                  <a:srgbClr val="005293"/>
                </a:solidFill>
              </a:rPr>
              <a:t>0.31-0.93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14546-EB7C-4A18-8482-177F0688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17621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20" b="0">
                <a:solidFill>
                  <a:srgbClr val="000000"/>
                </a:solidFill>
              </a:defRPr>
            </a:pPr>
            <a:r>
              <a:rPr sz="720" b="0">
                <a:solidFill>
                  <a:srgbClr val="000000"/>
                </a:solidFill>
              </a:rPr>
              <a:t>logged range p5-p95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521606-A594-4E6B-86A1-F447E8B7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28875"/>
            <a:ext cx="3381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</a:defRPr>
            </a:pPr>
            <a:r>
              <a:rPr sz="1125" b="0">
                <a:solidFill>
                  <a:srgbClr val="000000"/>
                </a:solidFill>
              </a:rPr>
              <a:t>The formulation is intentionally simple: first-offer support is evaluated before policy quality is claimed.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Phase 1 learns</a:t>
            </a:r>
          </a:p>
          <a:p xmlns:a="http://schemas.openxmlformats.org/drawingml/2006/main">
            <a:r>
              <a:t>P(accept | state, anchor)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It is a response model, not a value function.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model is useful for prediction and simple baselines.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failure appears when the learned surface is maximized greedily: the target anchors move outside reliable logged support.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C5B3A8-B30B-D205-8921-516C108AB9AB}" type="slidenum">
              <a:t>07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Phase 1 predicts acceptance, but greedy use is unsafe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24A99-9BAD-471B-971D-897E6F2B2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52550"/>
            <a:ext cx="3676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139CC-8F03-4BB6-8759-7F856259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09700"/>
            <a:ext cx="8286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3029A-45B2-4971-A216-0ED172A6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E60E45-95F8-4A27-90F2-82181A9B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1409700"/>
            <a:ext cx="9620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2B301A-9B0F-4464-811D-157449B7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64D87-4847-4BAB-8AEA-0BF9EB9B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409700"/>
            <a:ext cx="16287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Meaning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B53416-1462-423F-AC6D-42855E8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676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3BF30-BD23-4C5A-8B3F-1E6FA679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85925"/>
            <a:ext cx="828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000000"/>
                </a:solidFill>
              </a:defRPr>
            </a:pPr>
            <a:r>
              <a:rPr sz="713" b="0">
                <a:solidFill>
                  <a:srgbClr val="000000"/>
                </a:solidFill>
              </a:rPr>
              <a:t>Predictor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EAB828-E50B-4004-9E61-5A1B551D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619250"/>
            <a:ext cx="7144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6BDC77-BC4F-4F18-A090-D75DB022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1685925"/>
            <a:ext cx="962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00000"/>
                </a:solidFill>
              </a:defRPr>
            </a:pPr>
            <a:r>
              <a:rPr sz="713" b="1">
                <a:solidFill>
                  <a:srgbClr val="000000"/>
                </a:solidFill>
              </a:rPr>
              <a:t>AUC 0.701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B6B486-6E29-4195-9774-EE20796A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619250"/>
            <a:ext cx="7144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087991-DFC3-4F78-B3E5-2AF4164F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685925"/>
            <a:ext cx="1628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000000"/>
                </a:solidFill>
              </a:defRPr>
            </a:pPr>
            <a:r>
              <a:rPr sz="713" b="0">
                <a:solidFill>
                  <a:srgbClr val="000000"/>
                </a:solidFill>
              </a:rPr>
              <a:t>usable acceptance 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6A93DE-0A27-4A2B-8FDF-142ACF59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19300"/>
            <a:ext cx="3676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4B7DD2-ADBA-431A-A607-0FCF1576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85975"/>
            <a:ext cx="828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000000"/>
                </a:solidFill>
              </a:defRPr>
            </a:pPr>
            <a:r>
              <a:rPr sz="713" b="0">
                <a:solidFill>
                  <a:srgbClr val="000000"/>
                </a:solidFill>
              </a:rPr>
              <a:t>Fixed 0.70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396CE9-002B-4C9E-ACBF-D9DD3BE7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019300"/>
            <a:ext cx="7144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64B30-2669-48C6-AD01-9D9B1098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2085975"/>
            <a:ext cx="962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00000"/>
                </a:solidFill>
              </a:defRPr>
            </a:pPr>
            <a:r>
              <a:rPr sz="713" b="1">
                <a:solidFill>
                  <a:srgbClr val="000000"/>
                </a:solidFill>
              </a:rPr>
              <a:t>0.0268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85E8-4DE9-44FE-AA3F-51984528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19300"/>
            <a:ext cx="7144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B9BFF7-8859-401A-B898-4F4CA6D3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085975"/>
            <a:ext cx="1628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000000"/>
                </a:solidFill>
              </a:defRPr>
            </a:pPr>
            <a:r>
              <a:rPr sz="713" b="0">
                <a:solidFill>
                  <a:srgbClr val="000000"/>
                </a:solidFill>
              </a:rPr>
              <a:t>expected savings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5ECA8F-8B3C-47DD-A0EF-D1C568D8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19350"/>
            <a:ext cx="3676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EB3020-9AA4-4660-9806-512180D9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486025"/>
            <a:ext cx="828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000000"/>
                </a:solidFill>
              </a:defRPr>
            </a:pPr>
            <a:r>
              <a:rPr sz="713" b="0">
                <a:solidFill>
                  <a:srgbClr val="000000"/>
                </a:solidFill>
              </a:rPr>
              <a:t>Greedy use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E7E3CE-411C-42F8-BAE1-04D32531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19350"/>
            <a:ext cx="7144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F2EA14-1417-4A99-91DB-1FD81FD8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2486025"/>
            <a:ext cx="9620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000000"/>
                </a:solidFill>
              </a:defRPr>
            </a:pPr>
            <a:r>
              <a:rPr sz="713" b="1">
                <a:solidFill>
                  <a:srgbClr val="000000"/>
                </a:solidFill>
              </a:rPr>
              <a:t>ESS 0.008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BA5271-924D-403E-8956-008F6A0E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19350"/>
            <a:ext cx="7144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B69A94-B888-40D5-ACE6-7CE28705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86025"/>
            <a:ext cx="16287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000000"/>
                </a:solidFill>
              </a:defRPr>
            </a:pPr>
            <a:r>
              <a:rPr sz="713" b="0">
                <a:solidFill>
                  <a:srgbClr val="000000"/>
                </a:solidFill>
              </a:rPr>
              <a:t>almost no logged support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A75EAE-461E-4CDD-A1CA-9A678016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90875"/>
            <a:ext cx="3476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5293"/>
                </a:solidFill>
              </a:defRPr>
            </a:pPr>
            <a:r>
              <a:rPr sz="1125" b="1">
                <a:solidFill>
                  <a:srgbClr val="005293"/>
                </a:solidFill>
              </a:rPr>
              <a:t>This closes Phase 1: prediction works, but support-aware optimization is still needed.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2137A3-63AB-4A6C-8CC8-9FEA5AEC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71900"/>
            <a:ext cx="3476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00000"/>
                </a:solidFill>
              </a:defRPr>
            </a:pPr>
            <a:r>
              <a:rPr sz="788" b="0">
                <a:solidFill>
                  <a:srgbClr val="000000"/>
                </a:solidFill>
              </a:rPr>
              <a:t>ESS shown for h = 0.05.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rows use the same savings objective.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changes is how much the method trusts P(accept | s, a) where data are thin.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comparison is evidence triage, not a leaderboard.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2E54B70-3376-18BE-56BD-5BB8BA701776}" type="slidenum">
              <a:t>08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four policies, four levels of trust in the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983A04-AE0A-4734-B725-17492D6C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352550"/>
            <a:ext cx="3657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FB4BBF-70A5-46B7-B482-DB6ABD09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409700"/>
            <a:ext cx="7905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B603C-C71E-4F72-A546-6CD0F42D1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0F1D0E-22E9-459E-B945-6F69BBEC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409700"/>
            <a:ext cx="13430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What it does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340202-683B-4258-8B5F-2DFE91BB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352550"/>
            <a:ext cx="7144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59C92-902A-42B8-B87F-DE08D7F5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409700"/>
            <a:ext cx="12668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FFFFF"/>
                </a:solidFill>
              </a:defRPr>
            </a:pPr>
            <a:r>
              <a:rPr sz="713" b="1">
                <a:solidFill>
                  <a:srgbClr val="FFFFFF"/>
                </a:solidFill>
              </a:rPr>
              <a:t>Trust level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F27E84-4CA4-4F48-9F24-AD2EE3A3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3657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04F45F-B7CA-4A8A-B73D-85BCFF39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85925"/>
            <a:ext cx="790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Fixed 0.70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D56BE-1DB1-4C91-BBA6-E4C4BB06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619250"/>
            <a:ext cx="714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3FDE3D-A17D-477F-863B-EC03CBD2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685925"/>
            <a:ext cx="1343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evaluate one anchor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B1D68B-9801-4126-BE07-E3E55B6E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19250"/>
            <a:ext cx="714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0E0C97-C0CF-4BA0-8CE8-DA92F047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685925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no 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0A0D30-0B0E-40A6-93BE-DC51B3F7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3657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83F304-1987-493E-A3A2-51E8758A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9775"/>
            <a:ext cx="790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Greedy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061BF7-39BB-4130-9469-7F057B22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43100"/>
            <a:ext cx="714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C62281-5963-4471-9FD6-EC6690EE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09775"/>
            <a:ext cx="1343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maximize everywhere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D8BD96-14BA-41F8-98A5-0D40D8A7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943100"/>
            <a:ext cx="714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AC7D95-4327-43FD-A159-8AE6C37F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009775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trusts model fully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A70E63-3F03-4DB5-958A-615C8788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3657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2B8147-3F3A-47B4-A25C-122C33E8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333625"/>
            <a:ext cx="790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CQL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BC33A0-D004-46A3-9F51-F5AF47ED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66950"/>
            <a:ext cx="714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167CB7-32DD-4E8D-9766-373556A6F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333625"/>
            <a:ext cx="1343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adds conservatism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E66B00-DBF6-4974-80A4-9081757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266950"/>
            <a:ext cx="714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A3DD4D-4F31-45F6-B659-E094652F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333625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distrusts off-support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F1CD9A-1945-492D-A564-198B1331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657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14BEBB-BBFA-4DAC-80A8-1BEAA7F2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57475"/>
            <a:ext cx="790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PPO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BBA10F-70C8-4E4A-BC1A-5AE3B5BB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590800"/>
            <a:ext cx="714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BF44E5-2B73-4281-95EE-3E061D33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57475"/>
            <a:ext cx="1343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optimizes simulator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18D4E9-B0F5-47F4-B4E6-3CC9202A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90800"/>
            <a:ext cx="7144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12E68A-4800-432C-92E6-EE7FAAB0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657475"/>
            <a:ext cx="1266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000000"/>
                </a:solidFill>
              </a:defRPr>
            </a:pPr>
            <a:r>
              <a:rPr sz="645" b="0">
                <a:solidFill>
                  <a:srgbClr val="000000"/>
                </a:solidFill>
              </a:rPr>
              <a:t>simulator-only evidence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37000E-31E1-4B9E-8917-D69A1E3A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257550"/>
            <a:ext cx="3381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005293"/>
                </a:solidFill>
              </a:defRPr>
            </a:pPr>
            <a:r>
              <a:rPr sz="1013" b="1">
                <a:solidFill>
                  <a:srgbClr val="005293"/>
                </a:solidFill>
              </a:rPr>
              <a:t>Every reported number carries an evidence type: observed, model estimate, or simulator-only.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True logging propensities are unavailable, so off-policy evaluation is diagnostic, not causal.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Effective sample size measures how much logged data actually supports a target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useful question is not only reward. It is whether the target action can be evaluated from the logs.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4235D47-801C-AA1F-E2A0-5E98061CBF6D}" type="slidenum">
              <a:t>09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How: OPE asks whether a policy is evaluable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810125" y="1285875"/>
          <a:ext xmlns:a="http://schemas.openxmlformats.org/drawingml/2006/main" cx="3476625" cy="2362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a15bda6b114c8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4B7F2D-2E3C-4948-BA1A-10BA1284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954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0000"/>
                </a:solidFill>
              </a:defRPr>
            </a:pPr>
            <a:r>
              <a:rPr sz="675" b="1">
                <a:solidFill>
                  <a:srgbClr val="000000"/>
                </a:solidFill>
              </a:rPr>
              <a:t>36.2%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D0E57-1F07-497B-BE3E-50700394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43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00000"/>
                </a:solidFill>
              </a:defRPr>
            </a:pPr>
            <a:r>
              <a:rPr sz="675" b="1">
                <a:solidFill>
                  <a:srgbClr val="000000"/>
                </a:solidFill>
              </a:rPr>
              <a:t>36.2%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6E898B-2CD8-43F6-97A5-C5397A4C0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9085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000000"/>
                </a:solidFill>
              </a:defRPr>
            </a:pPr>
            <a:r>
              <a:rPr sz="675" b="1">
                <a:solidFill>
                  <a:srgbClr val="000000"/>
                </a:solidFill>
              </a:rPr>
              <a:t>0.8%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A82E28-DC4E-4613-8A38-351B5D62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9095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5293"/>
                </a:solidFill>
              </a:defRPr>
            </a:pPr>
            <a:r>
              <a:rPr sz="975" b="1">
                <a:solidFill>
                  <a:srgbClr val="005293"/>
                </a:solidFill>
              </a:rPr>
              <a:t>Greedy looks attractive only because it leaves the logged support.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Inhaltsplatzhalter 2">
            <a:extLst xmlns:a="http://schemas.openxmlformats.org/drawingml/2006/main">
              <a:ext uri="{FF2B5EF4-FFF2-40B4-BE49-F238E27FC236}">
                <a16:creationId xmlns:a16="http://schemas.microsoft.com/office/drawing/2014/main" id="{349F6ED9-DD01-46EA-A0B2-3CF37391F570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</a:t>
            </a:r>
          </a:p>
          <a:p xmlns:a="http://schemas.openxmlformats.org/drawingml/2006/main">
            <a:r>
              <a:t>Results, honest claims, and what remains open</a:t>
            </a:r>
          </a:p>
        </p:txBody>
      </p:sp>
    </p:spTree>
    <p:extLst>
      <p:ext uri="{BB962C8B-B14F-4D97-AF65-F5344CB8AC3E}">
        <p14:creationId xmlns:p14="http://schemas.microsoft.com/office/powerpoint/2010/main" val="84879336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38F05BFB-8908-46EB-84F3-3B1D5835FAE4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rows are not directly comparable as a single ranking.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Behavior is observed.</a:t>
            </a:r>
          </a:p>
          <a:p xmlns:a="http://schemas.openxmlformats.org/drawingml/2006/main">
            <a:r>
              <a:t>Fixed and CQL are model estimates.</a:t>
            </a:r>
          </a:p>
          <a:p xmlns:a="http://schemas.openxmlformats.org/drawingml/2006/main">
            <a:r>
              <a:t>PPO is simulator-only.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Under the same model surface, conservative CQL does not beat logged behavior; its value is support discipline.</a:t>
            </a:r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00B1BF6-1E0F-4AD0-89BA-806F600E6D7D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AEE372-D5A0-447D-9407-E3C69944FFDA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0514C42E-BA49-4954-A66B-22C9793B65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What: evidence triage, not a leaderboard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1F438F-CF97-4D88-8941-D574B0B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381125"/>
            <a:ext cx="34480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93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BECF39-D271-4B39-8C98-AE98FAD3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38275"/>
            <a:ext cx="828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FFFFFF"/>
                </a:solidFill>
              </a:defRPr>
            </a:pPr>
            <a:r>
              <a:rPr sz="630" b="1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DD9B4-D3AE-4964-B115-DAE3A2FB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381125"/>
            <a:ext cx="714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04A1E-E9FD-463A-A1C3-36C8435A5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38275"/>
            <a:ext cx="6953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FFFFFF"/>
                </a:solidFill>
              </a:defRPr>
            </a:pPr>
            <a:r>
              <a:rPr sz="630" b="1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83D229-70DE-4D9E-B489-7670472A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381125"/>
            <a:ext cx="714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E2D3AC-C95D-478A-A65C-97E555BD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438275"/>
            <a:ext cx="561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FFFFFF"/>
                </a:solidFill>
              </a:defRPr>
            </a:pPr>
            <a:r>
              <a:rPr sz="630" b="1">
                <a:solidFill>
                  <a:srgbClr val="FFFFFF"/>
                </a:solidFill>
              </a:rPr>
              <a:t>Savings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E886D0-3DB4-4C93-A3A5-1F46D039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381125"/>
            <a:ext cx="714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BD7B55-4743-4697-9C98-F67F47207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38275"/>
            <a:ext cx="466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FFFFFF"/>
                </a:solidFill>
              </a:defRPr>
            </a:pPr>
            <a:r>
              <a:rPr sz="630" b="1">
                <a:solidFill>
                  <a:srgbClr val="FFFFFF"/>
                </a:solidFill>
              </a:rPr>
              <a:t>Deal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7CFEB-A635-4CD7-9B78-38925694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381125"/>
            <a:ext cx="714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C387DD-94EB-4B46-B446-F1F714D1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38275"/>
            <a:ext cx="4667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FFFFFF"/>
                </a:solidFill>
              </a:defRPr>
            </a:pPr>
            <a:r>
              <a:rPr sz="630" b="1">
                <a:solidFill>
                  <a:srgbClr val="FFFFFF"/>
                </a:solidFill>
              </a:rPr>
              <a:t>Anchor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5510DE-28BD-4FC8-834E-3D8E9D1B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628775"/>
            <a:ext cx="3448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6F12DA-0CC1-4300-A66C-78222D64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95450"/>
            <a:ext cx="8286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Behavior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CBEF7D-C9C9-4E67-A530-FBC6EC21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62877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23FDEC-15D2-4E0A-86C5-B1D29C7B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695450"/>
            <a:ext cx="695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observed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51C18D-9B58-45AF-AD42-0D78AC81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62877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B91667-7D5D-4005-B95D-CBC92979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95450"/>
            <a:ext cx="5619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0.050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BF059B-2642-4FB6-A351-2D48287A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62877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E9C1AD-C60D-42AE-8480-E82DA628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695450"/>
            <a:ext cx="466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0.128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525269-ABBC-452D-8263-4BC85D08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62877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51F76F-EF0C-4E77-BB88-2B3D1305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95450"/>
            <a:ext cx="466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0.665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F16F46-645D-4DE9-8FCF-6EB0483A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14525"/>
            <a:ext cx="3448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21EA63-C215-4C4F-A25B-3A99905A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81200"/>
            <a:ext cx="8286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Fixed 0.70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221C6C-1527-48BE-9B4F-1B99511E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191452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F38192-7FC5-40BC-941F-6055DA039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981200"/>
            <a:ext cx="695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model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4BFC7C-12A3-4528-8974-8DF5FDD2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1452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3A6DE0-5D8E-41E7-BA1E-D2EAB3C9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81200"/>
            <a:ext cx="5619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0.027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66C79F-2FDA-4854-BBEA-D8B10FEC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1452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A65C9E-0D43-481D-B470-56FC4A60C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981200"/>
            <a:ext cx="466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0.089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7A7B95-5559-4404-84CF-626490FF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1452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016E70-72E1-4499-ADEC-8104EC9C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81200"/>
            <a:ext cx="466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0.700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8C4AB4-A9D1-4902-ACD0-EEA555F4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00275"/>
            <a:ext cx="3448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CD8B38B-118E-42AB-BC53-CA4B7BDF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8286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CQL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47E899-0502-4A23-8963-87D33CD0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20027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517558-BFFD-459F-B848-044FDE4C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266950"/>
            <a:ext cx="695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model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4EC56B-CBB1-4776-A7CF-A6B9B0EF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0027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5B1108-22EF-4B3B-841A-EB92FBB3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66950"/>
            <a:ext cx="5619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0.020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2DA7DE-827A-4FC6-9A39-E643CD49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20027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997EC2-89ED-4EED-A22B-A1B4A3A2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266950"/>
            <a:ext cx="466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0.087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453BC2-8BC3-4202-91B8-9A6D50FA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20027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863D93-DD3E-416A-B033-3C3BC417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66950"/>
            <a:ext cx="466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0.769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65C49CB-B636-4BE0-A6B2-BEFE75D5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486025"/>
            <a:ext cx="3448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8DAAC5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455B7B-DBD7-4DE0-8FC4-D8B48C53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52700"/>
            <a:ext cx="8286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PPO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AD26FE-ED8B-43CD-8E28-0E9214C1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48602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AE2AF19-1457-48A8-AF7A-C13E4BE5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552700"/>
            <a:ext cx="6953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simulator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090613-1A0A-4C9D-BF30-91D58645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8602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A3C22E0-3E15-422F-ACA6-46C9225D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52700"/>
            <a:ext cx="5619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0.184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828A6CB-35E8-44F7-8843-7D0476DC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8602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44B4832-FD1E-4A5C-86B5-88F5BBB87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552700"/>
            <a:ext cx="466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0.270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FA39AD5-1138-4C34-B528-E305B0AA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486025"/>
            <a:ext cx="7144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AA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3C3F197-24C0-4032-945B-A6C169D2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52700"/>
            <a:ext cx="4667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000000"/>
                </a:solidFill>
              </a:defRPr>
            </a:pPr>
            <a:r>
              <a:rPr sz="623" b="0">
                <a:solidFill>
                  <a:srgbClr val="000000"/>
                </a:solidFill>
              </a:rPr>
              <a:t>0.318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0D33F56-55CF-4576-8DB4-FD1CFC2B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000000"/>
                </a:solidFill>
              </a:defRPr>
            </a:pPr>
            <a:r>
              <a:rPr sz="788" b="0">
                <a:solidFill>
                  <a:srgbClr val="000000"/>
                </a:solidFill>
              </a:rPr>
              <a:t>Savings, deal rate, and anchor are rounded production-run values.</a:t>
            </a:r>
          </a:p>
        </p:txBody>
      </p:sp>
    </p:spTree>
    <p:extLst>
      <p:ext uri="{BB962C8B-B14F-4D97-AF65-F5344CB8AC3E}">
        <p14:creationId xmlns:p14="http://schemas.microsoft.com/office/powerpoint/2010/main" val="326510756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76DA83A1-33C7-42C4-8F9C-3BD42E18E15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Supported</a:t>
            </a:r>
          </a:p>
          <a:p xmlns:a="http://schemas.openxmlformats.org/drawingml/2006/main">
            <a:r>
              <a:t>Greedy supervised maximization leaves the data support; CQL stays evaluable (ESS 36% vs 0.8%).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Cautious</a:t>
            </a:r>
          </a:p>
          <a:p xmlns:a="http://schemas.openxmlformats.org/drawingml/2006/main">
            <a:r>
              <a:t>PPO's high simulator savings are a learned-environment stress test, not marketplace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</a:pPr>
            <a:r>
              <a:t>Not claimed</a:t>
            </a:r>
          </a:p>
          <a:p xmlns:a="http://schemas.openxmlformats.org/drawingml/2006/main">
            <a:pPr>
              <a:buNone/>
            </a:pPr>
            <a:r>
              <a:t>Live marketplace lift, causal anchoring effects, or an optimal offer policy.</a:t>
            </a:r>
          </a:p>
          <a:p xmlns:a="http://schemas.openxmlformats.org/drawingml/2006/main">
            <a:pPr>
              <a:buNone/>
            </a:pPr>
            <a:r>
              <a:t/>
            </a:r>
          </a:p>
          <a:p xmlns:a="http://schemas.openxmlformats.org/drawingml/2006/main">
            <a:r>
              <a:t>Future work</a:t>
            </a:r>
          </a:p>
          <a:p xmlns:a="http://schemas.openxmlformats.org/drawingml/2006/main">
            <a:r>
              <a:t>Sequential counteroffers, richer item features, temporal and leaf-holdout robustness tables.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C44891E6-FD77-4ED2-B33D-9D52420B512C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3735118-2018-403D-97C0-573C8DD06D6A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5" name="Title 4">
            <a:extLst xmlns:a="http://schemas.openxmlformats.org/drawingml/2006/main">
              <a:ext uri="{FF2B5EF4-FFF2-40B4-BE49-F238E27FC236}">
                <a16:creationId xmlns:a16="http://schemas.microsoft.com/office/drawing/2014/main" id="{5E5BBDBF-7D0D-4939-977B-4D07FC6EF4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What: claims this evidence supports</a:t>
            </a:r>
          </a:p>
        </p:txBody>
      </p:sp>
    </p:spTree>
    <p:extLst>
      <p:ext uri="{BB962C8B-B14F-4D97-AF65-F5344CB8AC3E}">
        <p14:creationId xmlns:p14="http://schemas.microsoft.com/office/powerpoint/2010/main" val="393480710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1">
            <a:extLst xmlns:a="http://schemas.openxmlformats.org/drawingml/2006/main">
              <a:ext uri="{FF2B5EF4-FFF2-40B4-BE49-F238E27FC236}">
                <a16:creationId xmlns:a16="http://schemas.microsoft.com/office/drawing/2014/main" id="{E6F57E75-77ED-F878-48AE-05A29C686D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lowest offer is not the best decision, and the highest estimate is not the best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project makes extrapolation measurable before a recommendation is trusted.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Next: model counteroffers so rejection can lead to a second decision, not simply zero reward.</a:t>
            </a:r>
          </a:p>
        </p:txBody>
      </p:sp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BDDE685E-FB47-68F2-8D0F-75B31344B105}"/>
              </a:ext>
            </a:extLst>
          </p:cNvPr>
          <p:cNvSpPr>
            <a:spLocks xmlns:a="http://schemas.openxmlformats.org/drawingml/2006/main" noGrp="1"/>
          </p:cNvSpPr>
          <p:nvPr>
            <p:ph type="sldNum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D62A944-DD20-AABC-1EC2-6316001E6196}"/>
              </a:ext>
            </a:extLst>
          </p:cNvPr>
          <p:cNvSpPr>
            <a:spLocks xmlns:a="http://schemas.openxmlformats.org/drawingml/2006/main" noGrp="1"/>
          </p:cNvSpPr>
          <p:nvPr>
            <p:ph type="ft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eBay Best Offer anchoring RL | Advanced Seminar (WIHN0043SE)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5341D5F-23BE-1BD4-FAE5-0C571C07CA6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Support-aware decision support is the contribution.</a:t>
            </a:r>
          </a:p>
        </p:txBody>
      </p:sp>
      <p:sp>
        <p:nvSpPr>
          <p:cNvPr id="6" name="Title 5">
            <a:extLst xmlns:a="http://schemas.openxmlformats.org/drawingml/2006/main">
              <a:ext uri="{FF2B5EF4-FFF2-40B4-BE49-F238E27FC236}">
                <a16:creationId xmlns:a16="http://schemas.microsoft.com/office/drawing/2014/main" id="{FE563C00-8944-820A-C706-7F0696D2FF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Takeaway</a:t>
            </a:r>
          </a:p>
        </p:txBody>
      </p:sp>
    </p:spTree>
    <p:extLst>
      <p:ext uri="{BB962C8B-B14F-4D97-AF65-F5344CB8AC3E}">
        <p14:creationId xmlns:p14="http://schemas.microsoft.com/office/powerpoint/2010/main" val="919250277"/>
      </p:ext>
    </p:extLst>
  </p:cSld>
</p:sld>
</file>

<file path=ppt/theme/theme1.xml><?xml version="1.0" encoding="utf-8"?>
<a:theme xmlns:a="http://schemas.openxmlformats.org/drawingml/2006/main" name="Titel 1">
  <a:themeElements>
    <a:clrScheme name="TUM">
      <a:dk1>
        <a:sysClr val="windowText" lastClr="000000"/>
      </a:dk1>
      <a:lt1>
        <a:sysClr val="window" lastClr="FFFFFF"/>
      </a:lt1>
      <a:dk2>
        <a:srgbClr val="0065BD"/>
      </a:dk2>
      <a:lt2>
        <a:srgbClr val="EEECE1"/>
      </a:lt2>
      <a:accent1>
        <a:srgbClr val="005293"/>
      </a:accent1>
      <a:accent2>
        <a:srgbClr val="98C6EA"/>
      </a:accent2>
      <a:accent3>
        <a:srgbClr val="64A0C8"/>
      </a:accent3>
      <a:accent4>
        <a:srgbClr val="DAD7CB"/>
      </a:accent4>
      <a:accent5>
        <a:srgbClr val="A2AD00"/>
      </a:accent5>
      <a:accent6>
        <a:srgbClr val="E37222"/>
      </a:accent6>
      <a:hlink>
        <a:srgbClr val="0000FF"/>
      </a:hlink>
      <a:folHlink>
        <a:srgbClr val="800080"/>
      </a:folHlink>
    </a:clrScheme>
    <a:fontScheme name="TUM 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TU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2026-07-03T01:01:56.1750000Z</dcterms:created>
  <dcterms:modified xsi:type="dcterms:W3CDTF">2026-07-03T01:01:56.1750000Z</dcterms:modified>
</coreProperties>
</file>
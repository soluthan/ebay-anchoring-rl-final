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dc3699de98a4593" /><Relationship Type="http://schemas.openxmlformats.org/officeDocument/2006/relationships/extended-properties" Target="/docProps/app.xml" Id="R16b599427e874a74" /><Relationship Type="http://schemas.openxmlformats.org/officeDocument/2006/relationships/officeDocument" Target="/ppt/presentation.xml" Id="R52810129c1d6482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cbbfb97ed8d4a56"/>
  </p:sldMasterIdLst>
  <p:notesMasterIdLst>
    <p:notesMasterId xmlns:r="http://schemas.openxmlformats.org/officeDocument/2006/relationships" r:id="Rfefda4afa44b40d7"/>
  </p:notesMasterIdLst>
  <p:sldIdLst>
    <p:sldId xmlns:r="http://schemas.openxmlformats.org/officeDocument/2006/relationships" id="256" r:id="R7336748fdcff4981"/>
    <p:sldId xmlns:r="http://schemas.openxmlformats.org/officeDocument/2006/relationships" id="257" r:id="R12b756703d94423a"/>
    <p:sldId xmlns:r="http://schemas.openxmlformats.org/officeDocument/2006/relationships" id="258" r:id="Rbe36f69be0684861"/>
    <p:sldId xmlns:r="http://schemas.openxmlformats.org/officeDocument/2006/relationships" id="259" r:id="R9203b343db004274"/>
    <p:sldId xmlns:r="http://schemas.openxmlformats.org/officeDocument/2006/relationships" id="260" r:id="Rdb04c379dd07479c"/>
    <p:sldId xmlns:r="http://schemas.openxmlformats.org/officeDocument/2006/relationships" id="261" r:id="R9f2512f726aa4503"/>
    <p:sldId xmlns:r="http://schemas.openxmlformats.org/officeDocument/2006/relationships" id="262" r:id="R3ad9f7a4e5bc4edc"/>
    <p:sldId xmlns:r="http://schemas.openxmlformats.org/officeDocument/2006/relationships" id="263" r:id="R007c5000b2ba4b07"/>
    <p:sldId xmlns:r="http://schemas.openxmlformats.org/officeDocument/2006/relationships" id="264" r:id="Ra2b536d8b95d4760"/>
    <p:sldId xmlns:r="http://schemas.openxmlformats.org/officeDocument/2006/relationships" id="265" r:id="Rffbdd7b381994914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7dc06185c104acd" /><Relationship Type="http://schemas.openxmlformats.org/officeDocument/2006/relationships/slideMaster" Target="/ppt/slideMasters/slideMaster1.xml" Id="R0cbbfb97ed8d4a56" /><Relationship Type="http://schemas.openxmlformats.org/officeDocument/2006/relationships/notesMaster" Target="/ppt/notesMasters/notesMaster1.xml" Id="Rfefda4afa44b40d7" /><Relationship Type="http://schemas.openxmlformats.org/officeDocument/2006/relationships/presProps" Target="/ppt/presProps.xml" Id="Rd81c500a1e7d4d1a" /><Relationship Type="http://schemas.openxmlformats.org/officeDocument/2006/relationships/tableStyles" Target="/ppt/tableStyles.xml" Id="Rf400d04a3ea54b98" /><Relationship Type="http://schemas.openxmlformats.org/officeDocument/2006/relationships/slide" Target="/ppt/slides/slide1.xml" Id="R7336748fdcff4981" /><Relationship Type="http://schemas.openxmlformats.org/officeDocument/2006/relationships/slide" Target="/ppt/slides/slide2.xml" Id="R12b756703d94423a" /><Relationship Type="http://schemas.openxmlformats.org/officeDocument/2006/relationships/slide" Target="/ppt/slides/slide3.xml" Id="Rbe36f69be0684861" /><Relationship Type="http://schemas.openxmlformats.org/officeDocument/2006/relationships/slide" Target="/ppt/slides/slide4.xml" Id="R9203b343db004274" /><Relationship Type="http://schemas.openxmlformats.org/officeDocument/2006/relationships/slide" Target="/ppt/slides/slide5.xml" Id="Rdb04c379dd07479c" /><Relationship Type="http://schemas.openxmlformats.org/officeDocument/2006/relationships/slide" Target="/ppt/slides/slide6.xml" Id="R9f2512f726aa4503" /><Relationship Type="http://schemas.openxmlformats.org/officeDocument/2006/relationships/slide" Target="/ppt/slides/slide7.xml" Id="R3ad9f7a4e5bc4edc" /><Relationship Type="http://schemas.openxmlformats.org/officeDocument/2006/relationships/slide" Target="/ppt/slides/slide8.xml" Id="R007c5000b2ba4b07" /><Relationship Type="http://schemas.openxmlformats.org/officeDocument/2006/relationships/slide" Target="/ppt/slides/slide9.xml" Id="Ra2b536d8b95d4760" /><Relationship Type="http://schemas.openxmlformats.org/officeDocument/2006/relationships/slide" Target="/ppt/slides/slide10.xml" Id="Rffbdd7b38199491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c57d65986a4422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19629566285420b" /><Relationship Type="http://schemas.openxmlformats.org/officeDocument/2006/relationships/notesMaster" Target="/ppt/notesMasters/notesMaster1.xml" Id="Re2a5109539d0466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e716f5bfa7c4ca9" /><Relationship Type="http://schemas.openxmlformats.org/officeDocument/2006/relationships/notesMaster" Target="/ppt/notesMasters/notesMaster1.xml" Id="R6d3052b730d1478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6f6ffdd3b3649c2" /><Relationship Type="http://schemas.openxmlformats.org/officeDocument/2006/relationships/notesMaster" Target="/ppt/notesMasters/notesMaster1.xml" Id="R35abccd2a54542e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06e06da3e9e47a0" /><Relationship Type="http://schemas.openxmlformats.org/officeDocument/2006/relationships/notesMaster" Target="/ppt/notesMasters/notesMaster1.xml" Id="Rc30a21f3c91b4ef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a60e85933254b26" /><Relationship Type="http://schemas.openxmlformats.org/officeDocument/2006/relationships/notesMaster" Target="/ppt/notesMasters/notesMaster1.xml" Id="Rdeeee6d9713c444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4a3b8b2bf9b4865" /><Relationship Type="http://schemas.openxmlformats.org/officeDocument/2006/relationships/notesMaster" Target="/ppt/notesMasters/notesMaster1.xml" Id="R739861ccd0bb480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59991ab5c17498e" /><Relationship Type="http://schemas.openxmlformats.org/officeDocument/2006/relationships/notesMaster" Target="/ppt/notesMasters/notesMaster1.xml" Id="R6a01670d8d954b8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74d52fec4074697" /><Relationship Type="http://schemas.openxmlformats.org/officeDocument/2006/relationships/notesMaster" Target="/ppt/notesMasters/notesMaster1.xml" Id="R785c52cbc7fa473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f9cde5e41574849" /><Relationship Type="http://schemas.openxmlformats.org/officeDocument/2006/relationships/notesMaster" Target="/ppt/notesMasters/notesMaster1.xml" Id="R7a8e19804969485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3fdf40fa9ea4b38" /><Relationship Type="http://schemas.openxmlformats.org/officeDocument/2006/relationships/notesMaster" Target="/ppt/notesMasters/notesMaster1.xml" Id="Rcd89354f685442c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central distinction: this is not a claim that RL beats the marketplace.</a:t>
            </a:r>
          </a:p>
          <a:p xmlns:a="http://schemas.openxmlformats.org/drawingml/2006/main">
            <a:r>
              <a:t>The project is about making anchor recommendations support-aware and scientifically honest.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Frame the problem in simple terms: low anchor means high savings only if accepted.</a:t>
            </a:r>
          </a:p>
          <a:p xmlns:a="http://schemas.openxmlformats.org/drawingml/2006/main">
            <a:r>
              <a:t>The methodological tension is support mismatch, not only prediction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slide prevents confusion about the reward.</a:t>
            </a:r>
          </a:p>
          <a:p xmlns:a="http://schemas.openxmlformats.org/drawingml/2006/main">
            <a:r>
              <a:t>Say clearly that the regressor was removed because it was redundant and made the pipeline harder to explain.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Walk left to right.</a:t>
            </a:r>
          </a:p>
          <a:p xmlns:a="http://schemas.openxmlformats.org/drawingml/2006/main">
            <a:r>
              <a:t>Emphasize that the pipeline was built to prevent a single leaderboard from hiding evidence quality.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Warn the audience not to read this as a single ranking.</a:t>
            </a:r>
          </a:p>
          <a:p xmlns:a="http://schemas.openxmlformats.org/drawingml/2006/main">
            <a:r>
              <a:t>The row labels are the crucial part: observed, model-estimated, simulator-only.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the most important slide.</a:t>
            </a:r>
          </a:p>
          <a:p xmlns:a="http://schemas.openxmlformats.org/drawingml/2006/main">
            <a:r>
              <a:t>ESS is the mechanism that turns 'this looks risky' into a measurable diagnostic.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slide protects the project from overclaiming.</a:t>
            </a:r>
          </a:p>
          <a:p xmlns:a="http://schemas.openxmlformats.org/drawingml/2006/main">
            <a:r>
              <a:t>Say that PPO is useful because it reveals what the simulator incentivizes, not because it is deployable.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Do not apologize for the limitations.</a:t>
            </a:r>
          </a:p>
          <a:p xmlns:a="http://schemas.openxmlformats.org/drawingml/2006/main">
            <a:r>
              <a:t>Present them as the reason the project is credible.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connects the new negotiation-book insight without overclaiming.</a:t>
            </a:r>
          </a:p>
          <a:p xmlns:a="http://schemas.openxmlformats.org/drawingml/2006/main">
            <a:r>
              <a:t>The key phrase: observed move geometry, not seller intent.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by repeating the claim boundary.</a:t>
            </a:r>
          </a:p>
          <a:p xmlns:a="http://schemas.openxmlformats.org/drawingml/2006/main">
            <a:r>
              <a:t>The project earns credibility because it resists the decorative 'RL wins' story.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65797c1d2cc423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017d329722342c0" /><Relationship Type="http://schemas.openxmlformats.org/officeDocument/2006/relationships/slideLayout" Target="/ppt/slideLayouts/slideLayout1.xml" Id="R45a62a532b2f410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5a62a532b2f410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c9dada27ea42af" /><Relationship Type="http://schemas.openxmlformats.org/officeDocument/2006/relationships/notesSlide" Target="/ppt/notesSlides/notesSlide1.xml" Id="R95a2bad547c74d9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7e32dffd954a23" /><Relationship Type="http://schemas.openxmlformats.org/officeDocument/2006/relationships/notesSlide" Target="/ppt/notesSlides/notesSlide2.xml" Id="R888f940b91994e6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c995b426d64be6" /><Relationship Type="http://schemas.openxmlformats.org/officeDocument/2006/relationships/notesSlide" Target="/ppt/notesSlides/notesSlide3.xml" Id="Rcf3ec562516349a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e1370ec2c64f03" /><Relationship Type="http://schemas.openxmlformats.org/officeDocument/2006/relationships/notesSlide" Target="/ppt/notesSlides/notesSlide4.xml" Id="R7c02511bbd234ff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c6ebe2700749d0" /><Relationship Type="http://schemas.openxmlformats.org/officeDocument/2006/relationships/image" Target="/ppt/media/image.png" Id="R0445f230e25443e3" /><Relationship Type="http://schemas.openxmlformats.org/officeDocument/2006/relationships/notesSlide" Target="/ppt/notesSlides/notesSlide5.xml" Id="R2e6ccb1e6410424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1bba9e3b0d4e83" /><Relationship Type="http://schemas.openxmlformats.org/officeDocument/2006/relationships/chart" Target="/ppt/slides/charts/chart1.xml" Id="Redcdb205c17542b6" /><Relationship Type="http://schemas.openxmlformats.org/officeDocument/2006/relationships/notesSlide" Target="/ppt/notesSlides/notesSlide6.xml" Id="R4bb5bc4e01c94bb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4806bcb8b9481d" /><Relationship Type="http://schemas.openxmlformats.org/officeDocument/2006/relationships/notesSlide" Target="/ppt/notesSlides/notesSlide7.xml" Id="Rb2db8e205f464bf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561c871a694d6f" /><Relationship Type="http://schemas.openxmlformats.org/officeDocument/2006/relationships/notesSlide" Target="/ppt/notesSlides/notesSlide8.xml" Id="R86207932d4e041f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15a12ed7644d8d" /><Relationship Type="http://schemas.openxmlformats.org/officeDocument/2006/relationships/notesSlide" Target="/ppt/notesSlides/notesSlide9.xml" Id="R489696dc0c4344d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3577160b5a4bda" /><Relationship Type="http://schemas.openxmlformats.org/officeDocument/2006/relationships/notesSlide" Target="/ppt/notesSlides/notesSlide10.xml" Id="Rd1a744d163b04981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CQL</c:v>
          </c:tx>
          <c:spPr>
            <a:solidFill xmlns:a="http://schemas.openxmlformats.org/drawingml/2006/main">
              <a:srgbClr val="FF6B35"/>
            </a:solidFill>
          </c:spPr>
          <c:dLbls/>
          <c:cat>
            <c:strLit>
              <c:ptCount val="3"/>
              <c:pt idx="0">
                <c:v>h = 0.03</c:v>
              </c:pt>
              <c:pt idx="1">
                <c:v>h = 0.05</c:v>
              </c:pt>
              <c:pt idx="2">
                <c:v>h = 0.10</c:v>
              </c:pt>
            </c:strLit>
          </c:cat>
          <c:val>
            <c:numLit>
              <c:formatCode>0.00</c:formatCode>
              <c:ptCount val="3"/>
              <c:pt idx="0">
                <c:v>0.2254</c:v>
              </c:pt>
              <c:pt idx="1">
                <c:v>0.3619</c:v>
              </c:pt>
              <c:pt idx="2">
                <c:v>0.6018</c:v>
              </c:pt>
            </c:numLit>
          </c:val>
        </c:ser>
        <c:ser>
          <c:idx val="1"/>
          <c:order val="1"/>
          <c:tx>
            <c:v>Fixed 0.70</c:v>
          </c:tx>
          <c:spPr>
            <a:solidFill xmlns:a="http://schemas.openxmlformats.org/drawingml/2006/main">
              <a:srgbClr val="000000"/>
            </a:solidFill>
          </c:spPr>
          <c:dLbls/>
          <c:cat>
            <c:strLit>
              <c:ptCount val="3"/>
              <c:pt idx="0">
                <c:v>h = 0.03</c:v>
              </c:pt>
              <c:pt idx="1">
                <c:v>h = 0.05</c:v>
              </c:pt>
              <c:pt idx="2">
                <c:v>h = 0.10</c:v>
              </c:pt>
            </c:strLit>
          </c:cat>
          <c:val>
            <c:numLit>
              <c:formatCode>0.00</c:formatCode>
              <c:ptCount val="3"/>
              <c:pt idx="0">
                <c:v>0.2162</c:v>
              </c:pt>
              <c:pt idx="1">
                <c:v>0.3621</c:v>
              </c:pt>
              <c:pt idx="2">
                <c:v>0.6872</c:v>
              </c:pt>
            </c:numLit>
          </c:val>
        </c:ser>
        <c:ser>
          <c:idx val="2"/>
          <c:order val="2"/>
          <c:tx>
            <c:v>Greedy</c:v>
          </c:tx>
          <c:spPr>
            <a:solidFill xmlns:a="http://schemas.openxmlformats.org/drawingml/2006/main">
              <a:srgbClr val="B8BCC4"/>
            </a:solidFill>
          </c:spPr>
          <c:dLbls/>
          <c:cat>
            <c:strLit>
              <c:ptCount val="3"/>
              <c:pt idx="0">
                <c:v>h = 0.03</c:v>
              </c:pt>
              <c:pt idx="1">
                <c:v>h = 0.05</c:v>
              </c:pt>
              <c:pt idx="2">
                <c:v>h = 0.10</c:v>
              </c:pt>
            </c:strLit>
          </c:cat>
          <c:val>
            <c:numLit>
              <c:formatCode>0.00</c:formatCode>
              <c:ptCount val="3"/>
              <c:pt idx="0">
                <c:v>0.0044</c:v>
              </c:pt>
              <c:pt idx="1">
                <c:v>0.0083</c:v>
              </c:pt>
              <c:pt idx="2">
                <c:v>0.0187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00">
                  <a:solidFill>
                    <a:srgbClr val="000000"/>
                  </a:solidFill>
                </a:defRPr>
              </a:pPr>
            </a:p>
          </c:txPr>
          <c:dLblPos val="outEnd"/>
          <c:showVal val="1"/>
        </c:dLbls>
        <c:gapWidth val="7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000000"/>
                </a:solidFill>
              </a:defRPr>
            </a:pPr>
          </a:p>
        </c:txPr>
        <c:crossAx val="48672768"/>
        <c:crosses val="autoZero"/>
        <c:lblAlgn val="ctr"/>
        <c:lblOffset val="100"/>
        <c:noMultiLvlLbl val="0"/>
      </c:catAx>
      <c:valAx>
        <c:axId val="48672768"/>
        <c:scaling>
          <c:orientation val="minMax"/>
          <c:max val="0.75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B8BCC4"/>
              </a:solidFill>
              <a:prstDash val="solid"/>
            </a:ln>
          </c:spPr>
        </c:majorGridlines>
        <c:numFmt formatCode="0.0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55555"/>
                </a:solidFill>
              </a:defRPr>
            </a:pPr>
          </a:p>
        </c:txPr>
        <c:crossAx val="48650112"/>
        <c:crosses val="autoZero"/>
        <c:crossBetween val="between"/>
      </c:valAx>
      <c:spPr>
        <a:solidFill xmlns:a="http://schemas.openxmlformats.org/drawingml/2006/main">
          <a:srgbClr val="FFFFFF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125">
              <a:solidFill>
                <a:srgbClr val="000000"/>
              </a:solidFill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61624B5-674E-4907-867C-B03A1DACE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0"/>
            <a:ext cx="315277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9880DD-E73F-42BC-9948-30C29EA45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78105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350" b="0">
                <a:solidFill>
                  <a:srgbClr val="000000"/>
                </a:solidFill>
              </a:defRPr>
            </a:pPr>
            <a:r>
              <a:rPr sz="4350" b="0">
                <a:solidFill>
                  <a:srgbClr val="000000"/>
                </a:solidFill>
              </a:rPr>
              <a:t>Offline and simulated online RL for eBay Best Offer anchoring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5BF869-2C21-49F4-93DF-63B3B001A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76650"/>
            <a:ext cx="609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555555"/>
                </a:solidFill>
              </a:defRPr>
            </a:pPr>
            <a:r>
              <a:rPr sz="2100" b="0">
                <a:solidFill>
                  <a:srgbClr val="555555"/>
                </a:solidFill>
              </a:rPr>
              <a:t>Support-aware decision support for buyer opening offers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9402E2-74C0-46D7-92C6-6DD1EDE04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667250"/>
            <a:ext cx="2095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2AA440-066F-42BD-8E7A-7FB4A7888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5300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00000"/>
                </a:solidFill>
              </a:defRPr>
            </a:pPr>
            <a:r>
              <a:rPr sz="1650" b="0">
                <a:solidFill>
                  <a:srgbClr val="000000"/>
                </a:solidFill>
              </a:rPr>
              <a:t>One-step MDP / CQL offline RL / PPO simulator / OPE diagnostics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5D0CF3-12D0-4EAA-82FE-E6667E5DB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829175"/>
            <a:ext cx="35718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00000"/>
                </a:solidFill>
              </a:defRPr>
            </a:pPr>
            <a:r>
              <a:rPr sz="2100" b="1">
                <a:solidFill>
                  <a:srgbClr val="000000"/>
                </a:solidFill>
              </a:rPr>
              <a:t>Final project presentation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4FE750F-2108-48AD-A190-5CB774D47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5334000"/>
            <a:ext cx="3571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55555"/>
                </a:solidFill>
              </a:defRPr>
            </a:pPr>
            <a:r>
              <a:rPr sz="1650" b="0">
                <a:solidFill>
                  <a:srgbClr val="555555"/>
                </a:solidFill>
              </a:rPr>
              <a:t>eBay Best Offer anchoring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EFDB62-B4A9-4F44-8906-9F76965BB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76975"/>
            <a:ext cx="514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55555"/>
                </a:solidFill>
              </a:defRPr>
            </a:pPr>
            <a:r>
              <a:rPr sz="1125" b="0">
                <a:solidFill>
                  <a:srgbClr val="555555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81912616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CA54448-2E33-4488-A176-DE7327250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7239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925" b="0">
                <a:solidFill>
                  <a:srgbClr val="000000"/>
                </a:solidFill>
              </a:defRPr>
            </a:pPr>
            <a:r>
              <a:rPr sz="2925" b="0">
                <a:solidFill>
                  <a:srgbClr val="000000"/>
                </a:solidFill>
              </a:rPr>
              <a:t>The lowest offer is not the best decision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D69D96-4481-481E-B38F-BEA8E8F60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57200"/>
            <a:ext cx="3619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55555"/>
                </a:solidFill>
              </a:defRPr>
            </a:pPr>
            <a:r>
              <a:rPr sz="1800" b="0">
                <a:solidFill>
                  <a:srgbClr val="555555"/>
                </a:solidFill>
              </a:rPr>
              <a:t>Best Offer creates a trade-off between savings and rejection risk.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B31411-EAAF-4C40-B49C-5D84598C4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76975"/>
            <a:ext cx="514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55555"/>
                </a:solidFill>
              </a:defRPr>
            </a:pPr>
            <a:r>
              <a:rPr sz="1125" b="0">
                <a:solidFill>
                  <a:srgbClr val="555555"/>
                </a:solidFill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C945C9-2582-4FA3-BAEB-EE684D6E4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95450"/>
            <a:ext cx="5334000" cy="3486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A3AB53-52BE-4EA9-9465-172C533F1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28825"/>
            <a:ext cx="447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00000"/>
                </a:solidFill>
              </a:defRPr>
            </a:pPr>
            <a:r>
              <a:rPr sz="2100" b="1">
                <a:solidFill>
                  <a:srgbClr val="000000"/>
                </a:solidFill>
              </a:rPr>
              <a:t>Buyer objective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64D67A-AA00-49FA-87A5-19167DEA9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28900"/>
            <a:ext cx="4476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000000"/>
                </a:solidFill>
              </a:defRPr>
            </a:pPr>
            <a:r>
              <a:rPr sz="1875" b="0">
                <a:solidFill>
                  <a:srgbClr val="000000"/>
                </a:solidFill>
              </a:rPr>
              <a:t>Choose an opening anchor that balances potential savings with acceptance probability.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646F77-8795-496E-A960-C87B88468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29050"/>
            <a:ext cx="44767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F6B35"/>
                </a:solidFill>
              </a:defRPr>
            </a:pPr>
            <a:r>
              <a:rPr sz="1950" b="1">
                <a:solidFill>
                  <a:srgbClr val="FF6B35"/>
                </a:solidFill>
              </a:rPr>
              <a:t>E[savings | state, anchor]</a:t>
            </a:r>
          </a:p>
          <a:p xmlns:a="http://schemas.openxmlformats.org/drawingml/2006/main">
            <a:pPr algn="l">
              <a:defRPr sz="1950" b="1">
                <a:solidFill>
                  <a:srgbClr val="FF6B35"/>
                </a:solidFill>
              </a:defRPr>
            </a:pPr>
            <a:r>
              <a:rPr sz="1950" b="1">
                <a:solidFill>
                  <a:srgbClr val="FF6B35"/>
                </a:solidFill>
              </a:rPr>
              <a:t>= P(accept | state, anchor) * (1 - anchor)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3CE377-C28C-4C0D-8060-DBACB11C4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0002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00000"/>
                </a:solidFill>
              </a:defRPr>
            </a:pPr>
            <a:r>
              <a:rPr sz="2100" b="1">
                <a:solidFill>
                  <a:srgbClr val="000000"/>
                </a:solidFill>
              </a:rPr>
              <a:t>Why this needs care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98BBBA-76F9-44CD-AC59-EFE5241E4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628900"/>
            <a:ext cx="4953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000000"/>
                </a:solidFill>
              </a:defRPr>
            </a:pPr>
            <a:r>
              <a:rPr sz="1875" b="0">
                <a:solidFill>
                  <a:srgbClr val="000000"/>
                </a:solidFill>
              </a:rPr>
              <a:t>- Buyers did not randomize offers.</a:t>
            </a:r>
          </a:p>
          <a:p xmlns:a="http://schemas.openxmlformats.org/drawingml/2006/main">
            <a:pPr algn="l">
              <a:defRPr sz="1875" b="0">
                <a:solidFill>
                  <a:srgbClr val="000000"/>
                </a:solidFill>
              </a:defRPr>
            </a:pPr>
            <a:r>
              <a:rPr sz="1875" b="0">
                <a:solidFill>
                  <a:srgbClr val="000000"/>
                </a:solidFill>
              </a:rPr>
              <a:t>- Very low anchors may be outside logged support.</a:t>
            </a:r>
          </a:p>
          <a:p xmlns:a="http://schemas.openxmlformats.org/drawingml/2006/main">
            <a:pPr algn="l">
              <a:defRPr sz="1875" b="0">
                <a:solidFill>
                  <a:srgbClr val="000000"/>
                </a:solidFill>
              </a:defRPr>
            </a:pPr>
            <a:r>
              <a:rPr sz="1875" b="0">
                <a:solidFill>
                  <a:srgbClr val="000000"/>
                </a:solidFill>
              </a:rPr>
              <a:t>- A supervised optimizer can exploit model errors.</a:t>
            </a:r>
          </a:p>
          <a:p xmlns:a="http://schemas.openxmlformats.org/drawingml/2006/main">
            <a:pPr algn="l">
              <a:defRPr sz="1875" b="0">
                <a:solidFill>
                  <a:srgbClr val="000000"/>
                </a:solidFill>
              </a:defRPr>
            </a:pPr>
            <a:r>
              <a:rPr sz="1875" b="0">
                <a:solidFill>
                  <a:srgbClr val="000000"/>
                </a:solidFill>
              </a:rPr>
              <a:t>- Evaluation must report support, not only reward.</a:t>
            </a:r>
          </a:p>
        </p:txBody>
      </p:sp>
    </p:spTree>
    <p:extLst>
      <p:ext uri="{BB962C8B-B14F-4D97-AF65-F5344CB8AC3E}">
        <p14:creationId xmlns:p14="http://schemas.microsoft.com/office/powerpoint/2010/main" val="198837541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9B5FAB2-29E2-4F46-B2A2-AAC170C1B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7239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925" b="0">
                <a:solidFill>
                  <a:srgbClr val="000000"/>
                </a:solidFill>
              </a:defRPr>
            </a:pPr>
            <a:r>
              <a:rPr sz="2925" b="0">
                <a:solidFill>
                  <a:srgbClr val="000000"/>
                </a:solidFill>
              </a:rPr>
              <a:t>A one-step MDP makes the reward transparent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F7854D-8EEB-42B7-86FF-992C791F3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76975"/>
            <a:ext cx="514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55555"/>
                </a:solidFill>
              </a:defRPr>
            </a:pPr>
            <a:r>
              <a:rPr sz="1125" b="0">
                <a:solidFill>
                  <a:srgbClr val="555555"/>
                </a:solidFill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D165B0-7D6D-4A51-B443-3192CB312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24050"/>
            <a:ext cx="2581275" cy="2905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CA6A97-24CE-44E4-BEF6-501E18D2C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81225"/>
            <a:ext cx="2171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00000"/>
                </a:solidFill>
              </a:defRPr>
            </a:pPr>
            <a:r>
              <a:rPr sz="2025" b="1">
                <a:solidFill>
                  <a:srgbClr val="000000"/>
                </a:solidFill>
              </a:rPr>
              <a:t>State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2BA6C8-9AD6-41A2-937F-D6C9B68C4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95600"/>
            <a:ext cx="2095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Listing and seller features: list price, seller feedback, positive percentage, leaf category.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8745F0-1734-413D-AE4B-8A2DDE422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3275" y="1924050"/>
            <a:ext cx="2581275" cy="2905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47AF30-981A-49DD-A971-7D0CC655E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2181225"/>
            <a:ext cx="2171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00000"/>
                </a:solidFill>
              </a:defRPr>
            </a:pPr>
            <a:r>
              <a:rPr sz="2025" b="1">
                <a:solidFill>
                  <a:srgbClr val="000000"/>
                </a:solidFill>
              </a:rPr>
              <a:t>Action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890158-40B5-4A95-8C61-6F8A6D395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2895600"/>
            <a:ext cx="2095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Opening offer ratio: buyer offer divided by seller list price.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A1B0E0-0D71-4A32-8026-00FE2BC61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924050"/>
            <a:ext cx="2581275" cy="2905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2F0A217-D5CC-45CD-83D7-C928CD436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181225"/>
            <a:ext cx="2171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00000"/>
                </a:solidFill>
              </a:defRPr>
            </a:pPr>
            <a:r>
              <a:rPr sz="2025" b="1">
                <a:solidFill>
                  <a:srgbClr val="000000"/>
                </a:solidFill>
              </a:rPr>
              <a:t>Reward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67A5C22-EB37-40D5-9649-042298C6F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895600"/>
            <a:ext cx="2095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1 - anchor if accepted; 0 otherwise.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6716175-6603-4E23-BCE1-825B487D0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1924050"/>
            <a:ext cx="2581275" cy="2905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29011F9-62ED-47D5-B7E0-447C5C076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181225"/>
            <a:ext cx="2171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F6B35"/>
                </a:solidFill>
              </a:defRPr>
            </a:pPr>
            <a:r>
              <a:rPr sz="2025" b="1">
                <a:solidFill>
                  <a:srgbClr val="FF6B35"/>
                </a:solidFill>
              </a:rPr>
              <a:t>Evidence boundary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0861E8-1FC0-4905-AB5C-01AA29D57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895600"/>
            <a:ext cx="2095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This is decision support, not causal marketplace control.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04C6F71-988E-4387-8F8C-BA4AB4552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43550"/>
            <a:ext cx="10001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55555"/>
                </a:solidFill>
              </a:defRPr>
            </a:pPr>
            <a:r>
              <a:rPr sz="1725" b="0">
                <a:solidFill>
                  <a:srgbClr val="555555"/>
                </a:solidFill>
              </a:rPr>
              <a:t>The design deliberately removes the redundant price-regression path: accepted-offer savings are already determined by the anchor ratio.</a:t>
            </a:r>
          </a:p>
        </p:txBody>
      </p:sp>
    </p:spTree>
    <p:extLst>
      <p:ext uri="{BB962C8B-B14F-4D97-AF65-F5344CB8AC3E}">
        <p14:creationId xmlns:p14="http://schemas.microsoft.com/office/powerpoint/2010/main" val="137546587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C115CF6-8BFA-4E72-BA3E-AF1734F76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7239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925" b="0">
                <a:solidFill>
                  <a:srgbClr val="000000"/>
                </a:solidFill>
              </a:defRPr>
            </a:pPr>
            <a:r>
              <a:rPr sz="2925" b="0">
                <a:solidFill>
                  <a:srgbClr val="000000"/>
                </a:solidFill>
              </a:rPr>
              <a:t>The pipeline separates three kinds of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447187-2ED6-4B35-BE7F-8D3333E46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57200"/>
            <a:ext cx="3619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55555"/>
                </a:solidFill>
              </a:defRPr>
            </a:pPr>
            <a:r>
              <a:rPr sz="1800" b="0">
                <a:solidFill>
                  <a:srgbClr val="555555"/>
                </a:solidFill>
              </a:rPr>
              <a:t>Logged outcomes, model estimates, and simulator results are not interchangeable.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A00D91-44ED-49F4-8728-9D2CD0474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76975"/>
            <a:ext cx="514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55555"/>
                </a:solidFill>
              </a:defRPr>
            </a:pPr>
            <a:r>
              <a:rPr sz="1125" b="0">
                <a:solidFill>
                  <a:srgbClr val="555555"/>
                </a:solidFill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8EEF85-B416-4F61-96C9-6C38CB848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95500"/>
            <a:ext cx="2333625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09797B-E14F-4781-AD57-7FC9079CE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05050"/>
            <a:ext cx="571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EC408F-1B9C-42E0-9CA8-F0F762253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71800"/>
            <a:ext cx="1905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00000"/>
                </a:solidFill>
              </a:defRPr>
            </a:pPr>
            <a:r>
              <a:rPr sz="1950" b="1">
                <a:solidFill>
                  <a:srgbClr val="000000"/>
                </a:solidFill>
              </a:rPr>
              <a:t>Preprocess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342381-944F-49D3-9C63-31613D1FA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05200"/>
            <a:ext cx="18859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00000"/>
                </a:solidFill>
              </a:defRPr>
            </a:pPr>
            <a:r>
              <a:rPr sz="1500" b="0">
                <a:solidFill>
                  <a:srgbClr val="000000"/>
                </a:solidFill>
              </a:rPr>
              <a:t>Train-only category encoding, seller-score scaling, split controls.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8F6A2A-3C7E-4EF7-B5C0-47C3E8A53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095625"/>
            <a:ext cx="381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B8BCC4"/>
                </a:solidFill>
              </a:defRPr>
            </a:pPr>
            <a:r>
              <a:rPr sz="3150" b="1">
                <a:solidFill>
                  <a:srgbClr val="B8BCC4"/>
                </a:solidFill>
              </a:rPr>
              <a:t>&gt;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34E511-3B76-48C4-8ED7-69B2975A5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095500"/>
            <a:ext cx="2333625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2465B0C-24EA-4647-9C78-297F63993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305050"/>
            <a:ext cx="571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F4EF86-CD5A-4268-871F-92BF829F3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971800"/>
            <a:ext cx="1905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00000"/>
                </a:solidFill>
              </a:defRPr>
            </a:pPr>
            <a:r>
              <a:rPr sz="1950" b="1">
                <a:solidFill>
                  <a:srgbClr val="000000"/>
                </a:solidFill>
              </a:rPr>
              <a:t>Phase 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F25D04-16A8-4E36-9FFB-B0818396E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505200"/>
            <a:ext cx="18859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00000"/>
                </a:solidFill>
              </a:defRPr>
            </a:pPr>
            <a:r>
              <a:rPr sz="1500" b="0">
                <a:solidFill>
                  <a:srgbClr val="000000"/>
                </a:solidFill>
              </a:rPr>
              <a:t>XGBoost acceptance model estimates P(accept | state, anchor).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18FD31E-C245-46CE-964B-8C5871C19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3095625"/>
            <a:ext cx="381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B8BCC4"/>
                </a:solidFill>
              </a:defRPr>
            </a:pPr>
            <a:r>
              <a:rPr sz="3150" b="1">
                <a:solidFill>
                  <a:srgbClr val="B8BCC4"/>
                </a:solidFill>
              </a:rPr>
              <a:t>&gt;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D619933-9E68-494F-A657-2C16210C8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95500"/>
            <a:ext cx="2333625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B3F433C-BF6B-4134-A018-7E2F02BA5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305050"/>
            <a:ext cx="571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F6B35"/>
                </a:solidFill>
              </a:defRPr>
            </a:pPr>
            <a:r>
              <a:rPr sz="2850" b="1">
                <a:solidFill>
                  <a:srgbClr val="FF6B35"/>
                </a:solidFill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5CFCB31-F2F7-4652-B399-57D25DA2E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971800"/>
            <a:ext cx="1905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00000"/>
                </a:solidFill>
              </a:defRPr>
            </a:pPr>
            <a:r>
              <a:rPr sz="1950" b="1">
                <a:solidFill>
                  <a:srgbClr val="000000"/>
                </a:solidFill>
              </a:rPr>
              <a:t>Phase 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105AAFF-3864-4FBA-90B9-850A96038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505200"/>
            <a:ext cx="18859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00000"/>
                </a:solidFill>
              </a:defRPr>
            </a:pPr>
            <a:r>
              <a:rPr sz="1500" b="0">
                <a:solidFill>
                  <a:srgbClr val="000000"/>
                </a:solidFill>
              </a:rPr>
              <a:t>CQL learns a conservative offline policy from logged actions.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D1CB770-2267-40E0-98ED-900B598D1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095625"/>
            <a:ext cx="381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B8BCC4"/>
                </a:solidFill>
              </a:defRPr>
            </a:pPr>
            <a:r>
              <a:rPr sz="3150" b="1">
                <a:solidFill>
                  <a:srgbClr val="B8BCC4"/>
                </a:solidFill>
              </a:rPr>
              <a:t>&gt;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4BB3755-DDF2-47CE-BDC5-392E70570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095500"/>
            <a:ext cx="2333625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2E90294-70B7-42B0-8D27-D6AB59A99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305050"/>
            <a:ext cx="571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7972F9C-62B6-42F4-9000-6A6058DE8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971800"/>
            <a:ext cx="1905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00000"/>
                </a:solidFill>
              </a:defRPr>
            </a:pPr>
            <a:r>
              <a:rPr sz="1950" b="1">
                <a:solidFill>
                  <a:srgbClr val="000000"/>
                </a:solidFill>
              </a:rPr>
              <a:t>Phase 3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E8B240B-C43D-4D21-8DD4-88247625E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505200"/>
            <a:ext cx="18859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00000"/>
                </a:solidFill>
              </a:defRPr>
            </a:pPr>
            <a:r>
              <a:rPr sz="1500" b="0">
                <a:solidFill>
                  <a:srgbClr val="000000"/>
                </a:solidFill>
              </a:rPr>
              <a:t>PPO optimizes inside a learned faithful-support simulator.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5EB837C-DCFA-46B1-A1DE-A8E9DAB5F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505450"/>
            <a:ext cx="9620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55555"/>
                </a:solidFill>
              </a:defRPr>
            </a:pPr>
            <a:r>
              <a:rPr sz="1800" b="0">
                <a:solidFill>
                  <a:srgbClr val="555555"/>
                </a:solidFill>
              </a:rPr>
              <a:t>The presentation treats CQL's support alignment as the central result; PPO is shown as simulator behavior, not live lift.</a:t>
            </a:r>
          </a:p>
        </p:txBody>
      </p:sp>
    </p:spTree>
    <p:extLst>
      <p:ext uri="{BB962C8B-B14F-4D97-AF65-F5344CB8AC3E}">
        <p14:creationId xmlns:p14="http://schemas.microsoft.com/office/powerpoint/2010/main" val="148046770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FC39474-777B-40D9-A9BA-84A5C1D9A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7239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925" b="0">
                <a:solidFill>
                  <a:srgbClr val="000000"/>
                </a:solidFill>
              </a:defRPr>
            </a:pPr>
            <a:r>
              <a:rPr sz="2925" b="0">
                <a:solidFill>
                  <a:srgbClr val="000000"/>
                </a:solidFill>
              </a:rPr>
              <a:t>The policy table is evidence triage, not a leaderboard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C6396D-6A14-488F-8DC3-822D7FDDC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76975"/>
            <a:ext cx="514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55555"/>
                </a:solidFill>
              </a:defRPr>
            </a:pPr>
            <a:r>
              <a:rPr sz="1125" b="0">
                <a:solidFill>
                  <a:srgbClr val="555555"/>
                </a:solidFill>
              </a:rPr>
              <a:t>05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400050" y="1600200"/>
          <a:ext xmlns:a="http://schemas.openxmlformats.org/drawingml/2006/main" cx="7381875" cy="295275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2095500"/>
                <a:gridCol w="1809750"/>
                <a:gridCol w="1190625"/>
                <a:gridCol w="1143000"/>
                <a:gridCol w="1143000"/>
              </a:tblGrid>
              <a:tr h="590550">
                <a:tc>
                  <a:txBody>
                    <a:bodyPr/>
                    <a:lstStyle/>
                    <a:p>
                      <a:r>
                        <a:t>Policy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Evidence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Savings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Deal rate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Mean anchor</a:t>
                      </a:r>
                    </a:p>
                  </a:txBody>
                  <a:tcPr marL="91440" marR="91440" marT="45720" marB="45720"/>
                </a:tc>
              </a:tr>
              <a:tr h="590550">
                <a:tc>
                  <a:txBody>
                    <a:bodyPr/>
                    <a:lstStyle/>
                    <a:p>
                      <a:r>
                        <a:t>Behavioral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Observed logs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0.0502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0.1278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0.6654</a:t>
                      </a:r>
                    </a:p>
                  </a:txBody>
                  <a:tcPr marL="91440" marR="91440" marT="45720" marB="45720"/>
                </a:tc>
              </a:tr>
              <a:tr h="590550">
                <a:tc>
                  <a:txBody>
                    <a:bodyPr/>
                    <a:lstStyle/>
                    <a:p>
                      <a:r>
                        <a:t>Fixed 0.70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Phase-1 model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0.0268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0.0893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0.7000</a:t>
                      </a:r>
                    </a:p>
                  </a:txBody>
                  <a:tcPr marL="91440" marR="91440" marT="45720" marB="45720"/>
                </a:tc>
              </a:tr>
              <a:tr h="590550">
                <a:tc>
                  <a:txBody>
                    <a:bodyPr/>
                    <a:lstStyle/>
                    <a:p>
                      <a:r>
                        <a:t>CQL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Phase-1 model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0.0200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0.0865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0.7690</a:t>
                      </a:r>
                    </a:p>
                  </a:txBody>
                  <a:tcPr marL="91440" marR="91440" marT="45720" marB="45720"/>
                </a:tc>
              </a:tr>
              <a:tr h="590550">
                <a:tc>
                  <a:txBody>
                    <a:bodyPr/>
                    <a:lstStyle/>
                    <a:p>
                      <a:r>
                        <a:t>PPO faithful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Simulator only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0.1840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0.2699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0.3176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5C5F54-04A0-4197-937A-2C13551A7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762125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00000"/>
                </a:solidFill>
              </a:defRPr>
            </a:pPr>
            <a:r>
              <a:rPr sz="2100" b="1">
                <a:solidFill>
                  <a:srgbClr val="000000"/>
                </a:solidFill>
              </a:rPr>
              <a:t>Main reading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9C9563-60FD-4292-BB1B-6CFA1ED8C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381250"/>
            <a:ext cx="3143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</a:defRPr>
            </a:pPr>
            <a:r>
              <a:rPr sz="1800" b="0">
                <a:solidFill>
                  <a:srgbClr val="000000"/>
                </a:solidFill>
              </a:rPr>
              <a:t>PPO is numerically high but depends on the learned simulator. CQL is lower reward under the model, yet much healthier under support diagnostics.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45f230e25443e3"/>
          <a:stretch xmlns:a="http://schemas.openxmlformats.org/drawingml/2006/main"/>
        </p:blipFill>
        <p:spPr>
          <a:xfrm xmlns:a="http://schemas.openxmlformats.org/drawingml/2006/main">
            <a:off x="8652580" y="4095750"/>
            <a:ext cx="2221091" cy="1524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075781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E6A82EE-8B22-4D20-B97A-F42F75252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7239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925" b="0">
                <a:solidFill>
                  <a:srgbClr val="000000"/>
                </a:solidFill>
              </a:defRPr>
            </a:pPr>
            <a:r>
              <a:rPr sz="2925" b="0">
                <a:solidFill>
                  <a:srgbClr val="000000"/>
                </a:solidFill>
              </a:rPr>
              <a:t>CQL is useful because it stays evaluable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77BF77-E34F-4676-8900-048D899F4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57200"/>
            <a:ext cx="3619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55555"/>
                </a:solidFill>
              </a:defRPr>
            </a:pPr>
            <a:r>
              <a:rPr sz="1800" b="0">
                <a:solidFill>
                  <a:srgbClr val="555555"/>
                </a:solidFill>
              </a:rPr>
              <a:t>Effective sample size shows whether logged data can support the target policy.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90A307-C6AA-4F8C-B47E-54C2ACBD7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76975"/>
            <a:ext cx="514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55555"/>
                </a:solidFill>
              </a:defRPr>
            </a:pPr>
            <a:r>
              <a:rPr sz="1125" b="0">
                <a:solidFill>
                  <a:srgbClr val="555555"/>
                </a:solidFill>
              </a:rPr>
              <a:t>06</a:t>
            </a:r>
          </a:p>
        </p:txBody>
      </p:sp>
      <p:graphicFrame>
        <p:nvGraphicFramePr>
          <p:cNvPr id="12" name="Chart"/>
          <p:cNvGraphicFramePr/>
          <p:nvPr/>
        </p:nvGraphicFramePr>
        <p:xfrm>
          <a:off xmlns:a="http://schemas.openxmlformats.org/drawingml/2006/main" x="571500" y="1714500"/>
          <a:ext xmlns:a="http://schemas.openxmlformats.org/drawingml/2006/main" cx="6858000" cy="3619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dcdb205c17542b6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1677A8-9830-467A-A044-DD32EF333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952625"/>
            <a:ext cx="3286125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CF8102-3878-4653-B9ED-53F1B9EDF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266950"/>
            <a:ext cx="2619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F6B35"/>
                </a:solidFill>
              </a:defRPr>
            </a:pPr>
            <a:r>
              <a:rPr sz="2250" b="1">
                <a:solidFill>
                  <a:srgbClr val="FF6B35"/>
                </a:solidFill>
              </a:rPr>
              <a:t>Interpretation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AC1F4C-CA84-46F3-8A07-B92B11893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914650"/>
            <a:ext cx="25717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00000"/>
                </a:solidFill>
              </a:defRPr>
            </a:pPr>
            <a:r>
              <a:rPr sz="1650" b="0">
                <a:solidFill>
                  <a:srgbClr val="000000"/>
                </a:solidFill>
              </a:rPr>
              <a:t>Greedy collapses: ESS stays below 0.02 even at h = 0.10.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000000"/>
                </a:solidFill>
              </a:defRPr>
            </a:pPr>
            <a:r>
              <a:rPr sz="1650" b="0">
                <a:solidFill>
                  <a:srgbClr val="000000"/>
                </a:solidFill>
              </a:rPr>
              <a:t>CQL remains evaluable across the sweep and tracks the fixed-anchor baseline.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2C063C0-E7AB-4E5E-8415-9B239791B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5029200"/>
            <a:ext cx="2571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0000"/>
                </a:solidFill>
              </a:defRPr>
            </a:pPr>
            <a:r>
              <a:rPr sz="1800" b="1">
                <a:solidFill>
                  <a:srgbClr val="000000"/>
                </a:solidFill>
              </a:rPr>
              <a:t>Takeaway: reward estimates without ESS are not credible.</a:t>
            </a:r>
          </a:p>
        </p:txBody>
      </p:sp>
    </p:spTree>
    <p:extLst>
      <p:ext uri="{BB962C8B-B14F-4D97-AF65-F5344CB8AC3E}">
        <p14:creationId xmlns:p14="http://schemas.microsoft.com/office/powerpoint/2010/main" val="177470919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5962DBF-1E69-494E-B935-1B818B716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7239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925" b="0">
                <a:solidFill>
                  <a:srgbClr val="000000"/>
                </a:solidFill>
              </a:defRPr>
            </a:pPr>
            <a:r>
              <a:rPr sz="2925" b="0">
                <a:solidFill>
                  <a:srgbClr val="000000"/>
                </a:solidFill>
              </a:rPr>
              <a:t>PPO wins only inside the learned simulator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BECADE-99A8-453D-ABF2-B07703455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76975"/>
            <a:ext cx="514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55555"/>
                </a:solidFill>
              </a:defRPr>
            </a:pPr>
            <a:r>
              <a:rPr sz="1125" b="0">
                <a:solidFill>
                  <a:srgbClr val="555555"/>
                </a:solidFill>
              </a:rPr>
              <a:t>07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897E4B-DA20-4A74-91BB-9605E4B3E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52625"/>
            <a:ext cx="25717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EBC809-1473-4E7C-A807-B41431417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76475"/>
            <a:ext cx="21145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F6B35"/>
                </a:solidFill>
              </a:defRPr>
            </a:pPr>
            <a:r>
              <a:rPr sz="3300" b="1">
                <a:solidFill>
                  <a:srgbClr val="FF6B35"/>
                </a:solidFill>
              </a:rPr>
              <a:t>0.1840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08F35F-8965-4138-B876-6B12F3BA2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114675"/>
            <a:ext cx="21145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simulator-estimated expected savings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6B12C2-C95E-4FFE-8DD2-E8D21EEEA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1952625"/>
            <a:ext cx="25717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B133CE-5820-4210-9D27-552D747EB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276475"/>
            <a:ext cx="21145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00000"/>
                </a:solidFill>
              </a:defRPr>
            </a:pPr>
            <a:r>
              <a:rPr sz="3300" b="1">
                <a:solidFill>
                  <a:srgbClr val="000000"/>
                </a:solidFill>
              </a:rPr>
              <a:t>0.2699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D99AA6-C0EB-4C2E-8967-560FA960E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114675"/>
            <a:ext cx="21145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predicted acceptance under simulator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99A11F1-5255-411E-B312-B89483941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952625"/>
            <a:ext cx="25717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2AC8656-940A-47C6-AB48-F0D625E73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276475"/>
            <a:ext cx="21145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00000"/>
                </a:solidFill>
              </a:defRPr>
            </a:pPr>
            <a:r>
              <a:rPr sz="3300" b="1">
                <a:solidFill>
                  <a:srgbClr val="000000"/>
                </a:solidFill>
              </a:rPr>
              <a:t>0.3176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4C5E63-4857-4098-B730-8C70D94B8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114675"/>
            <a:ext cx="21145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mean anchor chosen by PPO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12C4899-B4F2-443C-93FC-11B9DFC2D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1952625"/>
            <a:ext cx="21907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0C325D0-1BAB-4C1A-912F-7C1D0CBAE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2266950"/>
            <a:ext cx="1714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00000"/>
                </a:solidFill>
              </a:defRPr>
            </a:pPr>
            <a:r>
              <a:rPr sz="1875" b="1">
                <a:solidFill>
                  <a:srgbClr val="000000"/>
                </a:solidFill>
              </a:rPr>
              <a:t>Evidence boundary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729B9AF-2E74-49DB-A4B8-4F946F7F8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2895600"/>
            <a:ext cx="16383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00000"/>
                </a:solidFill>
              </a:defRPr>
            </a:pPr>
            <a:r>
              <a:rPr sz="1650" b="0">
                <a:solidFill>
                  <a:srgbClr val="000000"/>
                </a:solidFill>
              </a:rPr>
              <a:t>These numbers are stress-test behavior, not proof of marketplace lift.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284C76D-32E6-4F1E-93E3-F8E073A96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57750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00000"/>
                </a:solidFill>
              </a:defRPr>
            </a:pPr>
            <a:r>
              <a:rPr sz="2025" b="1">
                <a:solidFill>
                  <a:srgbClr val="000000"/>
                </a:solidFill>
              </a:rPr>
              <a:t>Reason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5A8CBA1-08C8-4CBD-89D8-3CC01ACE4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876800"/>
            <a:ext cx="857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55555"/>
                </a:solidFill>
              </a:defRPr>
            </a:pPr>
            <a:r>
              <a:rPr sz="1725" b="0">
                <a:solidFill>
                  <a:srgbClr val="555555"/>
                </a:solidFill>
              </a:rPr>
              <a:t>PPO can exploit smooth regions of the learned acceptance surface. The faithful-support threshold blocks extreme anchors, but the simulator still inherits Phase-1 model bias.</a:t>
            </a:r>
          </a:p>
        </p:txBody>
      </p:sp>
    </p:spTree>
    <p:extLst>
      <p:ext uri="{BB962C8B-B14F-4D97-AF65-F5344CB8AC3E}">
        <p14:creationId xmlns:p14="http://schemas.microsoft.com/office/powerpoint/2010/main" val="188391311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FE0EFF7-5CAD-4B9C-8EB8-B48D91980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7239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925" b="0">
                <a:solidFill>
                  <a:srgbClr val="000000"/>
                </a:solidFill>
              </a:defRPr>
            </a:pPr>
            <a:r>
              <a:rPr sz="2925" b="0">
                <a:solidFill>
                  <a:srgbClr val="000000"/>
                </a:solidFill>
              </a:rPr>
              <a:t>The honest result is bounded by observational data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D467C5-B795-4A54-9075-3D42938FC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76975"/>
            <a:ext cx="514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55555"/>
                </a:solidFill>
              </a:defRPr>
            </a:pPr>
            <a:r>
              <a:rPr sz="1125" b="0">
                <a:solidFill>
                  <a:srgbClr val="555555"/>
                </a:solidFill>
              </a:rPr>
              <a:t>08</a:t>
            </a:r>
          </a:p>
        </p:txBody>
      </p:sp>
      <p:graphicFrame>
        <p:nvGraphicFramePr>
          <p:cNvPr id="7" name=""/>
          <p:cNvGraphicFramePr/>
          <p:nvPr/>
        </p:nvGraphicFramePr>
        <p:xfrm>
          <a:off xmlns:a="http://schemas.openxmlformats.org/drawingml/2006/main" x="800100" y="1762125"/>
          <a:ext xmlns:a="http://schemas.openxmlformats.org/drawingml/2006/main" cx="9810750" cy="295275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2476500"/>
                <a:gridCol w="7334250"/>
              </a:tblGrid>
              <a:tr h="738188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6B35"/>
                          </a:solidFill>
                        </a:rPr>
                        <a:t>No causal lift</a:t>
                      </a:r>
                    </a:p>
                  </a:txBody>
                  <a:tcPr marL="91440" marR="91440" marT="45720" marB="45720">
                    <a:solidFill>
                      <a:srgbClr val="FFF0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000000"/>
                          </a:solidFill>
                        </a:rPr>
                        <a:t>Logged buyers selected their own anchors; OPE uses estimated propensities.</a:t>
                      </a:r>
                    </a:p>
                  </a:txBody>
                  <a:tcPr marL="91440" marR="91440" marT="45720" marB="45720"/>
                </a:tc>
              </a:tr>
              <a:tr h="738188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000000"/>
                          </a:solidFill>
                        </a:rPr>
                        <a:t>One-step abstraction</a:t>
                      </a:r>
                    </a:p>
                  </a:txBody>
                  <a:tcPr marL="91440" marR="91440" marT="45720" marB="45720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000000"/>
                          </a:solidFill>
                        </a:rPr>
                        <a:t>Counteroffers, repeated messages, and seller learning are outside the current state.</a:t>
                      </a:r>
                    </a:p>
                  </a:txBody>
                  <a:tcPr marL="91440" marR="91440" marT="45720" marB="45720"/>
                </a:tc>
              </a:tr>
              <a:tr h="738188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000000"/>
                          </a:solidFill>
                        </a:rPr>
                        <a:t>Compact features</a:t>
                      </a:r>
                    </a:p>
                  </a:txBody>
                  <a:tcPr marL="91440" marR="91440" marT="45720" marB="45720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000000"/>
                          </a:solidFill>
                        </a:rPr>
                        <a:t>No title embeddings, images, condition, brand, inventory, or time-on-market.</a:t>
                      </a:r>
                    </a:p>
                  </a:txBody>
                  <a:tcPr marL="91440" marR="91440" marT="45720" marB="45720"/>
                </a:tc>
              </a:tr>
              <a:tr h="738188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000000"/>
                          </a:solidFill>
                        </a:rPr>
                        <a:t>Simulator bias</a:t>
                      </a:r>
                    </a:p>
                  </a:txBody>
                  <a:tcPr marL="91440" marR="91440" marT="45720" marB="45720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000000"/>
                          </a:solidFill>
                        </a:rPr>
                        <a:t>PPO inherits Phase-1 model errors even under faithful-support constraints.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8F40BC-26F8-4BC1-B076-5C9736F25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429250"/>
            <a:ext cx="885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00000"/>
                </a:solidFill>
              </a:defRPr>
            </a:pPr>
            <a:r>
              <a:rPr sz="1875" b="1">
                <a:solidFill>
                  <a:srgbClr val="000000"/>
                </a:solidFill>
              </a:rPr>
              <a:t>A negative-but-instructive result is still a strong result when the evidence boundary is clear.</a:t>
            </a:r>
          </a:p>
        </p:txBody>
      </p:sp>
    </p:spTree>
    <p:extLst>
      <p:ext uri="{BB962C8B-B14F-4D97-AF65-F5344CB8AC3E}">
        <p14:creationId xmlns:p14="http://schemas.microsoft.com/office/powerpoint/2010/main" val="184183114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708CFAA-5A8D-437F-8AEA-BAD6C2F87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7239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925" b="0">
                <a:solidFill>
                  <a:srgbClr val="000000"/>
                </a:solidFill>
              </a:defRPr>
            </a:pPr>
            <a:r>
              <a:rPr sz="2925" b="0">
                <a:solidFill>
                  <a:srgbClr val="000000"/>
                </a:solidFill>
              </a:rPr>
              <a:t>The next model should be sequential negotiation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24DE35-A0CE-4744-9057-4B4CCAE78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57200"/>
            <a:ext cx="3619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55555"/>
                </a:solidFill>
              </a:defRPr>
            </a:pPr>
            <a:r>
              <a:rPr sz="1800" b="0">
                <a:solidFill>
                  <a:srgbClr val="555555"/>
                </a:solidFill>
              </a:rPr>
              <a:t>The opening anchor is only the first move in a bargaining process.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7EE116-60D5-4891-9AD8-55C588844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76975"/>
            <a:ext cx="514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55555"/>
                </a:solidFill>
              </a:defRPr>
            </a:pPr>
            <a:r>
              <a:rPr sz="1125" b="0">
                <a:solidFill>
                  <a:srgbClr val="555555"/>
                </a:solidFill>
              </a:rPr>
              <a:t>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C92B3B-BDEB-42B7-A223-F579069BF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14500"/>
            <a:ext cx="495300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962EEB-A47F-4F94-BF2F-FF209BD73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409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000000"/>
                </a:solidFill>
              </a:defRPr>
            </a:pPr>
            <a:r>
              <a:rPr sz="2175" b="1">
                <a:solidFill>
                  <a:srgbClr val="000000"/>
                </a:solidFill>
              </a:rPr>
              <a:t>Counteroffer geometry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A45572-26BA-4DE4-8AD1-7F319D188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4095750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F6B35"/>
                </a:solidFill>
              </a:defRPr>
            </a:pPr>
            <a:r>
              <a:rPr sz="2025" b="1">
                <a:solidFill>
                  <a:srgbClr val="FF6B35"/>
                </a:solidFill>
              </a:rPr>
              <a:t>o = opening offer / list price</a:t>
            </a:r>
          </a:p>
          <a:p xmlns:a="http://schemas.openxmlformats.org/drawingml/2006/main">
            <a:pPr algn="l">
              <a:defRPr sz="2025" b="1">
                <a:solidFill>
                  <a:srgbClr val="FF6B35"/>
                </a:solidFill>
              </a:defRPr>
            </a:pPr>
            <a:r>
              <a:rPr sz="2025" b="1">
                <a:solidFill>
                  <a:srgbClr val="FF6B35"/>
                </a:solidFill>
              </a:rPr>
              <a:t>c = seller counter / list price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2025" b="1">
                <a:solidFill>
                  <a:srgbClr val="FF6B35"/>
                </a:solidFill>
              </a:defRPr>
            </a:pPr>
            <a:r>
              <a:rPr sz="2025" b="1">
                <a:solidFill>
                  <a:srgbClr val="FF6B35"/>
                </a:solidFill>
              </a:rPr>
              <a:t>seller concession = (1 - c) / (1 - o)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A366C8-2B35-4FB2-8A83-06B510410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95800"/>
            <a:ext cx="4095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000000"/>
                </a:solidFill>
              </a:defRPr>
            </a:pPr>
            <a:r>
              <a:rPr sz="1725" b="0">
                <a:solidFill>
                  <a:srgbClr val="000000"/>
                </a:solidFill>
              </a:rPr>
              <a:t>Use it for guardrails, not psychology.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8F99B5-B8D6-4EE4-8596-8AE75D044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000250"/>
            <a:ext cx="342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000000"/>
                </a:solidFill>
              </a:defRPr>
            </a:pPr>
            <a:r>
              <a:rPr sz="2175" b="1">
                <a:solidFill>
                  <a:srgbClr val="000000"/>
                </a:solidFill>
              </a:rPr>
              <a:t>Safe next steps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10E3D1-D6F9-4A8B-B1BC-04CD1B824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647950"/>
            <a:ext cx="44767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</a:defRPr>
            </a:pPr>
            <a:r>
              <a:rPr sz="1800" b="0">
                <a:solidFill>
                  <a:srgbClr val="000000"/>
                </a:solidFill>
              </a:rPr>
              <a:t>- Validate multi-offer thread semantics.</a:t>
            </a:r>
          </a:p>
          <a:p xmlns:a="http://schemas.openxmlformats.org/drawingml/2006/main">
            <a:pPr algn="l">
              <a:defRPr sz="1800" b="0">
                <a:solidFill>
                  <a:srgbClr val="000000"/>
                </a:solidFill>
              </a:defRPr>
            </a:pPr>
            <a:r>
              <a:rPr sz="1800" b="0">
                <a:solidFill>
                  <a:srgbClr val="000000"/>
                </a:solidFill>
              </a:rPr>
              <a:t>- Classify observed move geometry.</a:t>
            </a:r>
          </a:p>
          <a:p xmlns:a="http://schemas.openxmlformats.org/drawingml/2006/main">
            <a:pPr algn="l">
              <a:defRPr sz="1800" b="0">
                <a:solidFill>
                  <a:srgbClr val="000000"/>
                </a:solidFill>
              </a:defRPr>
            </a:pPr>
            <a:r>
              <a:rPr sz="1800" b="0">
                <a:solidFill>
                  <a:srgbClr val="000000"/>
                </a:solidFill>
              </a:rPr>
              <a:t>- Flag dominated or unsupported moves.</a:t>
            </a:r>
          </a:p>
          <a:p xmlns:a="http://schemas.openxmlformats.org/drawingml/2006/main">
            <a:pPr algn="l">
              <a:defRPr sz="1800" b="0">
                <a:solidFill>
                  <a:srgbClr val="000000"/>
                </a:solidFill>
              </a:defRPr>
            </a:pPr>
            <a:r>
              <a:rPr sz="1800" b="0">
                <a:solidFill>
                  <a:srgbClr val="000000"/>
                </a:solidFill>
              </a:rPr>
              <a:t>- Report uncertainty and support neighborhoods.</a:t>
            </a:r>
          </a:p>
          <a:p xmlns:a="http://schemas.openxmlformats.org/drawingml/2006/main">
            <a:pPr algn="l">
              <a:defRPr sz="1800" b="0">
                <a:solidFill>
                  <a:srgbClr val="000000"/>
                </a:solidFill>
              </a:defRPr>
            </a:pPr>
            <a:r>
              <a:rPr sz="1800" b="0">
                <a:solidFill>
                  <a:srgbClr val="000000"/>
                </a:solidFill>
              </a:rPr>
              <a:t>- Test prospectively before claiming better outcomes.</a:t>
            </a:r>
          </a:p>
        </p:txBody>
      </p:sp>
    </p:spTree>
    <p:extLst>
      <p:ext uri="{BB962C8B-B14F-4D97-AF65-F5344CB8AC3E}">
        <p14:creationId xmlns:p14="http://schemas.microsoft.com/office/powerpoint/2010/main" val="1807544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0D4DA9E-D496-42C1-866B-F5E0BE295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1500"/>
            <a:ext cx="381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050" b="0">
                <a:solidFill>
                  <a:srgbClr val="000000"/>
                </a:solidFill>
              </a:defRPr>
            </a:pPr>
            <a:r>
              <a:rPr sz="4050" b="0">
                <a:solidFill>
                  <a:srgbClr val="000000"/>
                </a:solidFill>
              </a:rPr>
              <a:t>Takeaway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6F735F-AF6C-48ED-828B-A0D3B703A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33550"/>
            <a:ext cx="81915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00000"/>
                </a:solidFill>
              </a:defRPr>
            </a:pPr>
            <a:r>
              <a:rPr sz="3300" b="1">
                <a:solidFill>
                  <a:srgbClr val="000000"/>
                </a:solidFill>
              </a:rPr>
              <a:t>Support-aware RL is most valuable here as diagnostic discipline.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859DFB-FC4A-449D-87CA-B4CE67FA6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733800"/>
            <a:ext cx="3524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08822E-EBD5-44E2-9879-09504FD97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733800"/>
            <a:ext cx="3524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B85C82-A13C-4FA7-B365-05A7EF6B0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733800"/>
            <a:ext cx="3524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1345E1-75E2-46C6-94ED-43E4FF3A9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6B35"/>
                </a:solidFill>
              </a:defRPr>
            </a:pPr>
            <a:r>
              <a:rPr sz="1800" b="1">
                <a:solidFill>
                  <a:srgbClr val="FF6B35"/>
                </a:solidFill>
              </a:rPr>
              <a:t>Do not claim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202C21-24A6-4C7F-BC38-37EC6BF52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57700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RL beats historical buyers in production.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DE7D94-D62D-43C4-A898-B0E197741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00050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0000"/>
                </a:solidFill>
              </a:defRPr>
            </a:pPr>
            <a:r>
              <a:rPr sz="1800" b="1">
                <a:solidFill>
                  <a:srgbClr val="000000"/>
                </a:solidFill>
              </a:rPr>
              <a:t>Do claim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35A084-32E5-4C16-AB84-FCA87588C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457700"/>
            <a:ext cx="285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CQL stays far more evaluable than greedy optimization.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1D1C29-9C13-4F4D-BC99-E70D8F67A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400050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0000"/>
                </a:solidFill>
              </a:defRPr>
            </a:pPr>
            <a:r>
              <a:rPr sz="1800" b="1">
                <a:solidFill>
                  <a:srgbClr val="000000"/>
                </a:solidFill>
              </a:rPr>
              <a:t>Next step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BFFA9C9-50EE-4F88-B117-44DE13EC1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4457700"/>
            <a:ext cx="285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Sequential, support-flagged negotiation guardrails.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253045E-15F1-4925-8F15-4A4C3A16F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76975"/>
            <a:ext cx="514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55555"/>
                </a:solidFill>
              </a:defRPr>
            </a:pPr>
            <a:r>
              <a:rPr sz="1125" b="0">
                <a:solidFill>
                  <a:srgbClr val="555555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98831351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2026-07-02T15:33:03.8780000Z</dcterms:created>
  <dcterms:modified xsi:type="dcterms:W3CDTF">2026-07-02T15:33:03.8780000Z</dcterms:modified>
</coreProperties>
</file>